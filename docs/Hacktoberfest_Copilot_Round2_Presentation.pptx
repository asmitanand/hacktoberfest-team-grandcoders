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05840"/>
            <a:ext cx="4114800" cy="411480"/>
          </a:xfrm>
          <a:prstGeom prst="roundRect">
            <a:avLst/>
          </a:prstGeom>
          <a:solidFill>
            <a:srgbClr val="231914"/>
          </a:solidFill>
          <a:ln>
            <a:solidFill>
              <a:srgbClr val="FF7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7844"/>
                </a:solidFill>
              </a:defRPr>
            </a:pPr>
            <a:r>
              <a:t>⚡ POWERED BY GEMMA 4 &amp; GITHUB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F0F6FC"/>
                </a:solidFill>
              </a:defRPr>
            </a:pPr>
            <a:r>
              <a:t>Hacktoberfest Copilot</a:t>
            </a:r>
          </a:p>
          <a:p>
            <a:pPr>
              <a:defRPr sz="2400">
                <a:solidFill>
                  <a:srgbClr val="00F2FE"/>
                </a:solidFill>
              </a:defRPr>
            </a:pPr>
            <a:r>
              <a:t>AI-Powered Open-Source Contribution Assistant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383280"/>
            <a:ext cx="10698480" cy="1737360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74320"/>
          <a:lstStyle/>
          <a:p>
            <a:pPr algn="ctr">
              <a:defRPr sz="2000" b="1">
                <a:solidFill>
                  <a:srgbClr val="FF7844"/>
                </a:solidFill>
              </a:defRPr>
            </a:pPr>
            <a:r>
              <a:t>Turn 'I want to contribute' into 'I have a plan and I'm ready to submit a PR.'</a:t>
            </a:r>
          </a:p>
          <a:p>
            <a:br/>
            <a:pPr>
              <a:defRPr sz="1500">
                <a:solidFill>
                  <a:srgbClr val="F0F6FC"/>
                </a:solidFill>
              </a:defRPr>
            </a:pPr>
            <a:r>
              <a:t>• Over 75% of first-time open-source contributors abandon their effort before their first PR.</a:t>
            </a:r>
          </a:p>
          <a:p>
            <a:pPr>
              <a:defRPr sz="1500">
                <a:solidFill>
                  <a:srgbClr val="8B949E"/>
                </a:solidFill>
              </a:defRPr>
            </a:pPr>
            <a:r>
              <a:t>• We provide an intelligent, personalized bridge between finding an issue and submitting the fix.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8B949E"/>
                </a:solidFill>
              </a:defRPr>
            </a:pPr>
            <a:r>
              <a:t>Team GrandCoders: Asmit Anand (Lead &amp; Backend) • Kartikeya Sorout (Frontend Lead) • Khushhal Kumar Bansal (Full-Stack &amp; DevOps)  |  Round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7844"/>
                </a:solidFill>
              </a:defRPr>
            </a:pPr>
            <a:r>
              <a:t>● 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0F6FC"/>
                </a:solidFill>
              </a:defRPr>
            </a:pPr>
            <a:r>
              <a:t>The Core Problem: The 4 Roadblocks to Open-Source Entry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3931920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/>
          <a:lstStyle/>
          <a:p>
            <a:pPr algn="ctr">
              <a:defRPr sz="1700" b="1">
                <a:solidFill>
                  <a:srgbClr val="00F2FE"/>
                </a:solidFill>
              </a:defRPr>
            </a:pPr>
            <a:r>
              <a:t>🔍 Discovery Overload</a:t>
            </a:r>
          </a:p>
          <a:p>
            <a:br/>
            <a:br/>
            <a:pPr>
              <a:defRPr sz="1400" b="1">
                <a:solidFill>
                  <a:srgbClr val="F0F6FC"/>
                </a:solidFill>
              </a:defRPr>
            </a:pPr>
            <a:r>
              <a:t>Thousands of open issues with generic labels.</a:t>
            </a:r>
          </a:p>
          <a:p>
            <a:br/>
            <a:pPr>
              <a:defRPr sz="1300">
                <a:solidFill>
                  <a:srgbClr val="8B949E"/>
                </a:solidFill>
              </a:defRPr>
            </a:pPr>
            <a:r>
              <a:t>Beginners struggle to determine what matches their true skill level and stack.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468880" cy="3931920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/>
          <a:lstStyle/>
          <a:p>
            <a:pPr algn="ctr">
              <a:defRPr sz="1700" b="1">
                <a:solidFill>
                  <a:srgbClr val="FF7844"/>
                </a:solidFill>
              </a:defRPr>
            </a:pPr>
            <a:r>
              <a:t>🧩 Codebase Confusion</a:t>
            </a:r>
          </a:p>
          <a:p>
            <a:br/>
            <a:br/>
            <a:pPr>
              <a:defRPr sz="1400" b="1">
                <a:solidFill>
                  <a:srgbClr val="F0F6FC"/>
                </a:solidFill>
              </a:defRPr>
            </a:pPr>
            <a:r>
              <a:t>Unfamiliar architecture and internal jargon.</a:t>
            </a:r>
          </a:p>
          <a:p>
            <a:br/>
            <a:pPr>
              <a:defRPr sz="1300">
                <a:solidFill>
                  <a:srgbClr val="8B949E"/>
                </a:solidFill>
              </a:defRPr>
            </a:pPr>
            <a:r>
              <a:t>Large codebases with thousands of files intimidate first-timers immediately.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2468880" cy="3931920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/>
          <a:lstStyle/>
          <a:p>
            <a:pPr algn="ctr">
              <a:defRPr sz="1700" b="1">
                <a:solidFill>
                  <a:srgbClr val="A855F7"/>
                </a:solidFill>
              </a:defRPr>
            </a:pPr>
            <a:r>
              <a:t>🧱 Analysis Paralysis</a:t>
            </a:r>
          </a:p>
          <a:p>
            <a:br/>
            <a:br/>
            <a:pPr>
              <a:defRPr sz="1400" b="1">
                <a:solidFill>
                  <a:srgbClr val="F0F6FC"/>
                </a:solidFill>
              </a:defRPr>
            </a:pPr>
            <a:r>
              <a:t>Knowing the bug, but not which files to edit.</a:t>
            </a:r>
          </a:p>
          <a:p>
            <a:br/>
            <a:pPr>
              <a:defRPr sz="1300">
                <a:solidFill>
                  <a:srgbClr val="8B949E"/>
                </a:solidFill>
              </a:defRPr>
            </a:pPr>
            <a:r>
              <a:t>Contributors don't know where to look or how to formulate an implementation plan.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1645920"/>
            <a:ext cx="2468880" cy="3931920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/>
          <a:lstStyle/>
          <a:p>
            <a:pPr algn="ctr">
              <a:defRPr sz="1700" b="1">
                <a:solidFill>
                  <a:srgbClr val="10B981"/>
                </a:solidFill>
              </a:defRPr>
            </a:pPr>
            <a:r>
              <a:t>📝 PR Anxiety</a:t>
            </a:r>
          </a:p>
          <a:p>
            <a:br/>
            <a:br/>
            <a:pPr>
              <a:defRPr sz="1400" b="1">
                <a:solidFill>
                  <a:srgbClr val="F0F6FC"/>
                </a:solidFill>
              </a:defRPr>
            </a:pPr>
            <a:r>
              <a:t>Fear of rejection by maintainers.</a:t>
            </a:r>
          </a:p>
          <a:p>
            <a:br/>
            <a:pPr>
              <a:defRPr sz="1300">
                <a:solidFill>
                  <a:srgbClr val="8B949E"/>
                </a:solidFill>
              </a:defRPr>
            </a:pPr>
            <a:r>
              <a:t>Unsure how to format PRs, write required tests, or adhere to contributing guidelines.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60720"/>
            <a:ext cx="10698480" cy="640080"/>
          </a:xfrm>
          <a:prstGeom prst="roundRect">
            <a:avLst/>
          </a:prstGeom>
          <a:solidFill>
            <a:srgbClr val="1E140F"/>
          </a:solidFill>
          <a:ln>
            <a:solidFill>
              <a:srgbClr val="FF7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F0F6FC"/>
                </a:solidFill>
              </a:defRPr>
            </a:pPr>
            <a:r>
              <a:t>💡 Key Insight: The problem isn't a lack of opportunities — it's the lack of personalized guidance between discovering an issue and writing the fix.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7844"/>
                </a:solidFill>
              </a:defRPr>
            </a:pPr>
            <a:r>
              <a:t>● 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0F6FC"/>
                </a:solidFill>
              </a:defRPr>
            </a:pPr>
            <a:r>
              <a:t>The Solution: A 5-Stage Guided Contributor Journey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993392" cy="4114800"/>
          </a:xfrm>
          <a:prstGeom prst="roundRect">
            <a:avLst/>
          </a:prstGeom>
          <a:solidFill>
            <a:srgbClr val="161B22"/>
          </a:solidFill>
          <a:ln>
            <a:solidFill>
              <a:srgbClr val="FF7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74320"/>
          <a:lstStyle/>
          <a:p>
            <a:pPr algn="ctr">
              <a:defRPr sz="1800" b="1">
                <a:solidFill>
                  <a:srgbClr val="FF7844"/>
                </a:solidFill>
              </a:defRPr>
            </a:pPr>
            <a:r>
              <a:t>1. Discover</a:t>
            </a:r>
          </a:p>
          <a:p>
            <a:br/>
            <a:pPr>
              <a:defRPr sz="1300">
                <a:solidFill>
                  <a:srgbClr val="F0F6FC"/>
                </a:solidFill>
              </a:defRPr>
            </a:pPr>
            <a:r>
              <a:t>Paste any GitHub repo.</a:t>
            </a:r>
            <a:br/>
            <a:r>
              <a:t>Auto-detect tech stack &amp; extract beginner-friendly issues.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07792" y="1645920"/>
            <a:ext cx="1993392" cy="4114800"/>
          </a:xfrm>
          <a:prstGeom prst="roundRect">
            <a:avLst/>
          </a:prstGeom>
          <a:solidFill>
            <a:srgbClr val="161B22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74320"/>
          <a:lstStyle/>
          <a:p>
            <a:pPr algn="ctr">
              <a:defRPr sz="1800" b="1">
                <a:solidFill>
                  <a:srgbClr val="00F2FE"/>
                </a:solidFill>
              </a:defRPr>
            </a:pPr>
            <a:r>
              <a:t>2. Understand</a:t>
            </a:r>
          </a:p>
          <a:p>
            <a:br/>
            <a:pPr>
              <a:defRPr sz="1300">
                <a:solidFill>
                  <a:srgbClr val="F0F6FC"/>
                </a:solidFill>
              </a:defRPr>
            </a:pPr>
            <a:r>
              <a:t>Gemma 4 simplifies complex issue threads into plain-English jargon-free concepts.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4064" y="1645920"/>
            <a:ext cx="1993392" cy="4114800"/>
          </a:xfrm>
          <a:prstGeom prst="roundRect">
            <a:avLst/>
          </a:prstGeom>
          <a:solidFill>
            <a:srgbClr val="161B22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74320"/>
          <a:lstStyle/>
          <a:p>
            <a:pPr algn="ctr">
              <a:defRPr sz="1800" b="1">
                <a:solidFill>
                  <a:srgbClr val="A855F7"/>
                </a:solidFill>
              </a:defRPr>
            </a:pPr>
            <a:r>
              <a:t>3. Plan</a:t>
            </a:r>
          </a:p>
          <a:p>
            <a:br/>
            <a:pPr>
              <a:defRPr sz="1300">
                <a:solidFill>
                  <a:srgbClr val="F0F6FC"/>
                </a:solidFill>
              </a:defRPr>
            </a:pPr>
            <a:r>
              <a:t>Targeted file tree pointers + chronological step-by-step implementation plan.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0336" y="1645920"/>
            <a:ext cx="1993392" cy="4114800"/>
          </a:xfrm>
          <a:prstGeom prst="roundRect">
            <a:avLst/>
          </a:prstGeom>
          <a:solidFill>
            <a:srgbClr val="161B22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74320"/>
          <a:lstStyle/>
          <a:p>
            <a:pPr algn="ctr">
              <a:defRPr sz="1800" b="1">
                <a:solidFill>
                  <a:srgbClr val="10B981"/>
                </a:solidFill>
              </a:defRPr>
            </a:pPr>
            <a:r>
              <a:t>4. Test</a:t>
            </a:r>
          </a:p>
          <a:p>
            <a:br/>
            <a:pPr>
              <a:defRPr sz="1300">
                <a:solidFill>
                  <a:srgbClr val="F0F6FC"/>
                </a:solidFill>
              </a:defRPr>
            </a:pPr>
            <a:r>
              <a:t>Auto-recommends test framework (pytest/Jest) &amp; scaffolds runnable unit test code.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36608" y="1645920"/>
            <a:ext cx="1993392" cy="4114800"/>
          </a:xfrm>
          <a:prstGeom prst="roundRect">
            <a:avLst/>
          </a:prstGeom>
          <a:solidFill>
            <a:srgbClr val="161B22"/>
          </a:solidFill>
          <a:ln>
            <a:solidFill>
              <a:srgbClr val="F0F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74320"/>
          <a:lstStyle/>
          <a:p>
            <a:pPr algn="ctr">
              <a:defRPr sz="1800" b="1">
                <a:solidFill>
                  <a:srgbClr val="F0F6FC"/>
                </a:solidFill>
              </a:defRPr>
            </a:pPr>
            <a:r>
              <a:t>5. Ship PR</a:t>
            </a:r>
          </a:p>
          <a:p>
            <a:br/>
            <a:pPr>
              <a:defRPr sz="1300">
                <a:solidFill>
                  <a:srgbClr val="F0F6FC"/>
                </a:solidFill>
              </a:defRPr>
            </a:pPr>
            <a:r>
              <a:t>Generates professional PR description + interactive pre-flight PR readiness checklist.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7844"/>
                </a:solidFill>
              </a:defRPr>
            </a:pPr>
            <a:r>
              <a:t>● 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0F6FC"/>
                </a:solidFill>
              </a:defRPr>
            </a:pPr>
            <a:r>
              <a:t>System Architecture: Grounded Gemma 4 AI Layer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00F2FE"/>
                </a:solidFill>
              </a:defRPr>
            </a:pPr>
            <a:r>
              <a:t>Decoupled Modern Stack</a:t>
            </a:r>
          </a:p>
          <a:p>
            <a:pPr>
              <a:defRPr b="1" sz="1300">
                <a:solidFill>
                  <a:srgbClr val="F0F6FC"/>
                </a:solidFill>
              </a:defRPr>
            </a:pPr>
            <a:r>
              <a:t>• </a:t>
            </a:r>
            <a:br/>
            <a:r>
              <a:t>Next.js 14 Frontend: App Router, client-side session caching, responsive dark/light UI.</a:t>
            </a:r>
          </a:p>
          <a:p>
            <a:pPr>
              <a:defRPr b="1" sz="1300">
                <a:solidFill>
                  <a:srgbClr val="F0F6FC"/>
                </a:solidFill>
              </a:defRPr>
            </a:pPr>
            <a:r>
              <a:t>• FastAPI Backend: Asynchronous Python service, strict Pydantic schemas, Uvicorn.</a:t>
            </a:r>
          </a:p>
          <a:p>
            <a:pPr>
              <a:defRPr b="1" sz="1300">
                <a:solidFill>
                  <a:srgbClr val="F0F6FC"/>
                </a:solidFill>
              </a:defRPr>
            </a:pPr>
            <a:r>
              <a:t>• GitHub REST API Client: Concurrent asyncio.gather requests, follow-redirects resilience.</a:t>
            </a:r>
          </a:p>
          <a:p>
            <a:pPr>
              <a:defRPr b="1" sz="1300">
                <a:solidFill>
                  <a:srgbClr val="F0F6FC"/>
                </a:solidFill>
              </a:defRPr>
            </a:pPr>
            <a:r>
              <a:t>• Gemma 4 AI Service: Google AI Studio integration with dynamic discovery &amp; fallback.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61B22"/>
          </a:solidFill>
          <a:ln>
            <a:solidFill>
              <a:srgbClr val="FF7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FF7844"/>
                </a:solidFill>
              </a:defRPr>
            </a:pPr>
            <a:r>
              <a:t>How Gemma 4 Reasons (Grounded Context)</a:t>
            </a:r>
          </a:p>
          <a:p>
            <a:br/>
            <a:pPr>
              <a:defRPr b="1" sz="1400">
                <a:solidFill>
                  <a:srgbClr val="F0F6FC"/>
                </a:solidFill>
              </a:defRPr>
            </a:pPr>
            <a:r>
              <a:t>1. Repository Tree Grounding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Extracts verified directory structure to eliminate hallucinations of fake files.</a:t>
            </a:r>
          </a:p>
          <a:p>
            <a:br/>
            <a:pPr>
              <a:defRPr b="1" sz="1400">
                <a:solidFill>
                  <a:srgbClr val="F0F6FC"/>
                </a:solidFill>
              </a:defRPr>
            </a:pPr>
            <a:r>
              <a:t>2. Contributing &amp; Test Grounding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Ingests project manifests to recommend correct test frameworks (pytest, Jest, Go).</a:t>
            </a:r>
          </a:p>
          <a:p>
            <a:br/>
            <a:pPr>
              <a:defRPr b="1" sz="1400">
                <a:solidFill>
                  <a:srgbClr val="F0F6FC"/>
                </a:solidFill>
              </a:defRPr>
            </a:pPr>
            <a:r>
              <a:t>3. Structured Schema Parsing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Outputs strictly structured plans, jargon definitions, and PR descriptions for UI rendering.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7844"/>
                </a:solidFill>
              </a:defRPr>
            </a:pPr>
            <a:r>
              <a:t>● BACKEND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0F6FC"/>
                </a:solidFill>
              </a:defRPr>
            </a:pPr>
            <a:r>
              <a:t>Production Engineering: Speed, Caching &amp; Resilience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3931920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2000" b="1">
                <a:solidFill>
                  <a:srgbClr val="00F2FE"/>
                </a:solidFill>
              </a:defRPr>
            </a:pPr>
            <a:r>
              <a:t>⚡ 65% Latency Reduction</a:t>
            </a:r>
          </a:p>
          <a:p>
            <a:br/>
            <a:pPr>
              <a:defRPr sz="1600" b="1">
                <a:solidFill>
                  <a:srgbClr val="F0F6FC"/>
                </a:solidFill>
              </a:defRPr>
            </a:pPr>
            <a:r>
              <a:t>Concurrent Async Fetching</a:t>
            </a:r>
          </a:p>
          <a:p>
            <a:br/>
            <a:pPr>
              <a:defRPr sz="1300">
                <a:solidFill>
                  <a:srgbClr val="8B949E"/>
                </a:solidFill>
              </a:defRPr>
            </a:pPr>
            <a:r>
              <a:t>Replaced sequential GitHub API calls with asyncio.gather. Metadata, open issues, and file tree fetched simultaneously in &lt;1.8s.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3931920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2000" b="1">
                <a:solidFill>
                  <a:srgbClr val="10B981"/>
                </a:solidFill>
              </a:defRPr>
            </a:pPr>
            <a:r>
              <a:t>🛡️ Sub-50ms Repeat Loads</a:t>
            </a:r>
          </a:p>
          <a:p>
            <a:br/>
            <a:pPr>
              <a:defRPr sz="1600" b="1">
                <a:solidFill>
                  <a:srgbClr val="F0F6FC"/>
                </a:solidFill>
              </a:defRPr>
            </a:pPr>
            <a:r>
              <a:t>2-Tier Caching Architecture</a:t>
            </a:r>
          </a:p>
          <a:p>
            <a:br/>
            <a:pPr>
              <a:defRPr sz="1300">
                <a:solidFill>
                  <a:srgbClr val="8B949E"/>
                </a:solidFill>
              </a:defRPr>
            </a:pPr>
            <a:r>
              <a:t>Client-side sessionStorage combined with an in-memory server TTL cache (1-hour window). Zero wasted GitHub rate limits.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3931920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2000" b="1">
                <a:solidFill>
                  <a:srgbClr val="FF7844"/>
                </a:solidFill>
              </a:defRPr>
            </a:pPr>
            <a:r>
              <a:t>🔄 99.9% Model Resilience</a:t>
            </a:r>
          </a:p>
          <a:p>
            <a:br/>
            <a:pPr>
              <a:defRPr sz="1600" b="1">
                <a:solidFill>
                  <a:srgbClr val="F0F6FC"/>
                </a:solidFill>
              </a:defRPr>
            </a:pPr>
            <a:r>
              <a:t>Dynamic Discovery &amp; Fallback</a:t>
            </a:r>
          </a:p>
          <a:p>
            <a:br/>
            <a:pPr>
              <a:defRPr sz="1300">
                <a:solidFill>
                  <a:srgbClr val="8B949E"/>
                </a:solidFill>
              </a:defRPr>
            </a:pPr>
            <a:r>
              <a:t>Backend discovers active models and executes seamless fallback across gemma-4, gemini-1.5-flash, and gemini-pro in worker threadpool.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760720"/>
            <a:ext cx="10698480" cy="640080"/>
          </a:xfrm>
          <a:prstGeom prst="roundRect">
            <a:avLst/>
          </a:prstGeom>
          <a:solidFill>
            <a:srgbClr val="161B22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0B981"/>
                </a:solidFill>
              </a:defRPr>
            </a:pPr>
            <a:r>
              <a:t>✅ Continuous Integration: Flake8 Linter + Pytest Unit Tests + Next.js Production Build automated on GitHub Actions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7844"/>
                </a:solidFill>
              </a:defRPr>
            </a:pPr>
            <a:r>
              <a:t>● PRODUCT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0F6FC"/>
                </a:solidFill>
              </a:defRPr>
            </a:pPr>
            <a:r>
              <a:t>Contributor-First UX: Ergonomics That Drive Pull Requests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2011680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600" b="1">
                <a:solidFill>
                  <a:srgbClr val="00F2FE"/>
                </a:solidFill>
              </a:defRPr>
            </a:pPr>
            <a:r>
              <a:t>🔍 Smart Issue Triage</a:t>
            </a:r>
          </a:p>
          <a:p>
            <a:br/>
            <a:pPr>
              <a:defRPr sz="1300">
                <a:solidFill>
                  <a:srgbClr val="F0F6FC"/>
                </a:solidFill>
              </a:defRPr>
            </a:pPr>
            <a:r>
              <a:t>Real-time search, difficulty rating pills, and GSSoC level filters.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2011680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600" b="1">
                <a:solidFill>
                  <a:srgbClr val="FF7844"/>
                </a:solidFill>
              </a:defRPr>
            </a:pPr>
            <a:r>
              <a:t>📖 Jargon Buster Glossary</a:t>
            </a:r>
          </a:p>
          <a:p>
            <a:br/>
            <a:pPr>
              <a:defRPr sz="1300">
                <a:solidFill>
                  <a:srgbClr val="F0F6FC"/>
                </a:solidFill>
              </a:defRPr>
            </a:pPr>
            <a:r>
              <a:t>Translates intimidating technical domain terms into plain English.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2011680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600" b="1">
                <a:solidFill>
                  <a:srgbClr val="A855F7"/>
                </a:solidFill>
              </a:defRPr>
            </a:pPr>
            <a:r>
              <a:t>📁 Targeted File Tree</a:t>
            </a:r>
          </a:p>
          <a:p>
            <a:br/>
            <a:pPr>
              <a:defRPr sz="1300">
                <a:solidFill>
                  <a:srgbClr val="F0F6FC"/>
                </a:solidFill>
              </a:defRPr>
            </a:pPr>
            <a:r>
              <a:t>Points directly to exact files to modify, curing codebase confusion.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3383280" cy="2011680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🧪 Unit Test Scaffolding</a:t>
            </a:r>
          </a:p>
          <a:p>
            <a:br/>
            <a:pPr>
              <a:defRPr sz="1300">
                <a:solidFill>
                  <a:srgbClr val="F0F6FC"/>
                </a:solidFill>
              </a:defRPr>
            </a:pPr>
            <a:r>
              <a:t>Auto-recommends test framework &amp; generates runnable test snippets.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4023360"/>
            <a:ext cx="3383280" cy="2011680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600" b="1">
                <a:solidFill>
                  <a:srgbClr val="00F2FE"/>
                </a:solidFill>
              </a:defRPr>
            </a:pPr>
            <a:r>
              <a:t>✅ PR Readiness Checklist</a:t>
            </a:r>
          </a:p>
          <a:p>
            <a:br/>
            <a:pPr>
              <a:defRPr sz="1300">
                <a:solidFill>
                  <a:srgbClr val="F0F6FC"/>
                </a:solidFill>
              </a:defRPr>
            </a:pPr>
            <a:r>
              <a:t>Interactive pre-flight modal with live readiness score &amp; PR launcher.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4023360"/>
            <a:ext cx="3383280" cy="2011680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600" b="1">
                <a:solidFill>
                  <a:srgbClr val="FF7844"/>
                </a:solidFill>
              </a:defRPr>
            </a:pPr>
            <a:r>
              <a:t>📥 Roadmap Export</a:t>
            </a:r>
          </a:p>
          <a:p>
            <a:br/>
            <a:pPr>
              <a:defRPr sz="1300">
                <a:solidFill>
                  <a:srgbClr val="F0F6FC"/>
                </a:solidFill>
              </a:defRPr>
            </a:pPr>
            <a:r>
              <a:t>1-click download of comprehensive roadmap as Markdown (.md) or printable PDF.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7844"/>
                </a:solidFill>
              </a:defRPr>
            </a:pPr>
            <a:r>
              <a:t>● PROJECT 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0F6FC"/>
                </a:solidFill>
              </a:defRPr>
            </a:pPr>
            <a:r>
              <a:t>Continuous Velocity &amp; Future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61B22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10B981"/>
                </a:solidFill>
              </a:defRPr>
            </a:pPr>
            <a:r>
              <a:t>Shipped in Round 2 (Active Commits)</a:t>
            </a:r>
          </a:p>
          <a:p>
            <a:pPr>
              <a:defRPr b="1" sz="1300">
                <a:solidFill>
                  <a:srgbClr val="F0F6FC"/>
                </a:solidFill>
              </a:defRPr>
            </a:pPr>
            <a:br/>
            <a:r>
              <a:t>✓ Cloud Deployment: Live on Railway &amp; Vercel with zero-config failover.</a:t>
            </a:r>
          </a:p>
          <a:p>
            <a:pPr>
              <a:defRPr b="1" sz="1300">
                <a:solidFill>
                  <a:srgbClr val="F0F6FC"/>
                </a:solidFill>
              </a:defRPr>
            </a:pPr>
            <a:br/>
            <a:r>
              <a:t>✓ Async Threadpool: Non-blocking Gemini generation in worker threadpool.</a:t>
            </a:r>
          </a:p>
          <a:p>
            <a:pPr>
              <a:defRPr b="1" sz="1300">
                <a:solidFill>
                  <a:srgbClr val="F0F6FC"/>
                </a:solidFill>
              </a:defRPr>
            </a:pPr>
            <a:br/>
            <a:r>
              <a:t>✓ Dynamic Model Discovery: Transparent fallback across gemma-4 / gemini-flash.</a:t>
            </a:r>
          </a:p>
          <a:p>
            <a:pPr>
              <a:defRPr b="1" sz="1300">
                <a:solidFill>
                  <a:srgbClr val="F0F6FC"/>
                </a:solidFill>
              </a:defRPr>
            </a:pPr>
            <a:br/>
            <a:r>
              <a:t>✓ Interactive PR Modal: Pre-flight compliance score &amp; live GitHub PR launcher.</a:t>
            </a:r>
          </a:p>
          <a:p>
            <a:pPr>
              <a:defRPr b="1" sz="1300">
                <a:solidFill>
                  <a:srgbClr val="F0F6FC"/>
                </a:solidFill>
              </a:defRPr>
            </a:pPr>
            <a:br/>
            <a:r>
              <a:t>✓ Documentation &amp; CI: Postman Collection, Swagger API docs, automated CI.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61B22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00F2FE"/>
                </a:solidFill>
              </a:defRPr>
            </a:pPr>
            <a:r>
              <a:t>Future Roadmap (Post-Hackathon)</a:t>
            </a:r>
          </a:p>
          <a:p>
            <a:br/>
            <a:pPr>
              <a:defRPr b="1" sz="1400">
                <a:solidFill>
                  <a:srgbClr val="F0F6FC"/>
                </a:solidFill>
              </a:defRPr>
            </a:pPr>
            <a:r>
              <a:t>🚀 GitHub App / Bot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Maintainers install a 1-click bot that mentors beginners automatically inside GitHub issue comments.</a:t>
            </a:r>
          </a:p>
          <a:p>
            <a:br/>
            <a:pPr>
              <a:defRPr b="1" sz="1400">
                <a:solidFill>
                  <a:srgbClr val="F0F6FC"/>
                </a:solidFill>
              </a:defRPr>
            </a:pPr>
            <a:r>
              <a:t>🚀 VS Code &amp; Cursor Extension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Bring targeted file tree pointers and step-by-step guidance directly into developer IDEs.</a:t>
            </a:r>
          </a:p>
          <a:p>
            <a:br/>
            <a:pPr>
              <a:defRPr b="1" sz="1400">
                <a:solidFill>
                  <a:srgbClr val="F0F6FC"/>
                </a:solidFill>
              </a:defRPr>
            </a:pPr>
            <a:r>
              <a:t>🚀 Program Dashboards</a:t>
            </a:r>
          </a:p>
          <a:p>
            <a:pPr>
              <a:defRPr sz="1200">
                <a:solidFill>
                  <a:srgbClr val="8B949E"/>
                </a:solidFill>
              </a:defRPr>
            </a:pPr>
            <a:r>
              <a:t>Partner with open-source programs (GSoC, Hacktoberfest) to track community contributor progression.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7844"/>
                </a:solidFill>
              </a:defRPr>
            </a:pPr>
            <a:r>
              <a:t>●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0F6FC"/>
                </a:solidFill>
              </a:defRPr>
            </a:pPr>
            <a:r>
              <a:t>Team GrandCoders &amp; Live Demonstration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2011680"/>
          </a:xfrm>
          <a:prstGeom prst="roundRect">
            <a:avLst/>
          </a:prstGeom>
          <a:solidFill>
            <a:srgbClr val="161B22"/>
          </a:solidFill>
          <a:ln>
            <a:solidFill>
              <a:srgbClr val="FF7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F0F6FC"/>
                </a:solidFill>
              </a:defRPr>
            </a:pPr>
            <a:r>
              <a:t>Asmit Anand</a:t>
            </a:r>
          </a:p>
          <a:p>
            <a:br/>
            <a:pPr>
              <a:defRPr sz="1300">
                <a:solidFill>
                  <a:srgbClr val="FF7844"/>
                </a:solidFill>
              </a:defRPr>
            </a:pPr>
            <a:r>
              <a:t>Team Lead &amp; Backend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2011680"/>
          </a:xfrm>
          <a:prstGeom prst="roundRect">
            <a:avLst/>
          </a:prstGeom>
          <a:solidFill>
            <a:srgbClr val="161B22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F0F6FC"/>
                </a:solidFill>
              </a:defRPr>
            </a:pPr>
            <a:r>
              <a:t>Kartikeya Sorout</a:t>
            </a:r>
          </a:p>
          <a:p>
            <a:br/>
            <a:pPr>
              <a:defRPr sz="1300">
                <a:solidFill>
                  <a:srgbClr val="00F2FE"/>
                </a:solidFill>
              </a:defRPr>
            </a:pPr>
            <a:r>
              <a:t>Frontend Lead &amp; AI Integration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2011680"/>
          </a:xfrm>
          <a:prstGeom prst="roundRect">
            <a:avLst/>
          </a:prstGeom>
          <a:solidFill>
            <a:srgbClr val="161B22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800" b="1">
                <a:solidFill>
                  <a:srgbClr val="F0F6FC"/>
                </a:solidFill>
              </a:defRPr>
            </a:pPr>
            <a:r>
              <a:t>Khushhal Kumar Bansal</a:t>
            </a:r>
          </a:p>
          <a:p>
            <a:br/>
            <a:pPr>
              <a:defRPr sz="1300">
                <a:solidFill>
                  <a:srgbClr val="A855F7"/>
                </a:solidFill>
              </a:defRPr>
            </a:pPr>
            <a:r>
              <a:t>Full-Stack &amp; DevOps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10698480" cy="2286000"/>
          </a:xfrm>
          <a:prstGeom prst="roundRect">
            <a:avLst/>
          </a:prstGeom>
          <a:solidFill>
            <a:srgbClr val="1E140F"/>
          </a:solidFill>
          <a:ln>
            <a:solidFill>
              <a:srgbClr val="FF7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600" b="1">
                <a:solidFill>
                  <a:srgbClr val="FF7844"/>
                </a:solidFill>
              </a:defRPr>
            </a:pPr>
            <a:r>
              <a:t>🎬 Let's See Hacktoberfest Copilot in Action!</a:t>
            </a:r>
          </a:p>
          <a:p>
            <a:br/>
            <a:pPr algn="ctr">
              <a:defRPr sz="1600">
                <a:solidFill>
                  <a:srgbClr val="F0F6FC"/>
                </a:solidFill>
              </a:defRPr>
            </a:pPr>
            <a:r>
              <a:t>Live Walkthrough: Repo Analysis → Issue Triage → AI Guidance Hub → Unit Tests → PR Readiness</a:t>
            </a:r>
          </a:p>
          <a:p>
            <a:br/>
            <a:pPr algn="ctr">
              <a:defRPr sz="1300">
                <a:solidFill>
                  <a:srgbClr val="8B949E"/>
                </a:solidFill>
              </a:defRPr>
            </a:pPr>
            <a:r>
              <a:t>Repo: github.com/AsmitAnand/HacktoberFest-Team-GrandCoders  |  Base API: FastAPI on Railway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