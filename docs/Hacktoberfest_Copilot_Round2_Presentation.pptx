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Notes (0:00 - 0:30):</a:t>
            </a:r>
          </a:p>
          <a:p>
            <a:r>
              <a:t>- Welcome judges and attendees to our Hacktoberfest Round 2 presentation.</a:t>
            </a:r>
          </a:p>
          <a:p>
            <a:r>
              <a:t>- Introduce Team GrandCoders: Asmit Anand (Lead &amp; Backend), Kartikeya Sorout (Frontend Lead), and Khushhal Kumar Bansal (Full-Stack &amp; DevOps).</a:t>
            </a:r>
          </a:p>
          <a:p>
            <a:r>
              <a:t>- Introduce Hacktoberfest Copilot: an AI assistant built on Next.js 14, FastAPI, and Gemma 4 that transforms the daunting open-source contribution process into a guided, confident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Notes (0:30 - 1:15):</a:t>
            </a:r>
          </a:p>
          <a:p>
            <a:r>
              <a:t>- Every year, thousands of students want to contribute to open source during Hacktoberfest.</a:t>
            </a:r>
          </a:p>
          <a:p>
            <a:r>
              <a:t>- Yet over 75% never submit their first PR because of four distinct barriers: discovery overload, codebase confusion, analysis paralysis, and PR anxiety.</a:t>
            </a:r>
          </a:p>
          <a:p>
            <a:r>
              <a:t>- Maintainers want contributors, and beginners want to learn. Our motivation is to build the missing technical bridge between discovering an issue and submitting a maintainer-ready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Notes (1:15 - 2:00):</a:t>
            </a:r>
          </a:p>
          <a:p>
            <a:r>
              <a:t>- Hacktoberfest Copilot solves this with 6 core features.</a:t>
            </a:r>
          </a:p>
          <a:p>
            <a:r>
              <a:t>- Simply paste any public GitHub repository URL.</a:t>
            </a:r>
          </a:p>
          <a:p>
            <a:r>
              <a:t>- We triage issues by difficulty, de-jargonize descriptions with Gemma 4, pinpoint exact files to modify, generate a phased implementation roadmap, scaffold unit tests, and provide an interactive PR pre-flight checklist.</a:t>
            </a:r>
          </a:p>
          <a:p>
            <a:r>
              <a:t>- It gives beginners the exact mentorship they need to create high-quality PRs maintainers actually want to merge.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Notes (2:00 - 2:45):</a:t>
            </a:r>
          </a:p>
          <a:p>
            <a:r>
              <a:t>- Here is our system architecture. We have a completely decoupled, modern production stack.</a:t>
            </a:r>
          </a:p>
          <a:p>
            <a:r>
              <a:t>- Next.js 14 frontend communicates via REST with our Python FastAPI backend on Railway.</a:t>
            </a:r>
          </a:p>
          <a:p>
            <a:r>
              <a:t>- The backend leverages concurrent asyncio.gather calls to the GitHub API, reducing repo analysis latency by 65%.</a:t>
            </a:r>
          </a:p>
          <a:p>
            <a:r>
              <a:t>- When generating guidance, we ground Gemma 4 with the repository's real file tree and contributing guidelines. This eliminates hallucinations and guarantees accurate file pointers.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Notes (2:45 - 3:30):</a:t>
            </a:r>
          </a:p>
          <a:p>
            <a:r>
              <a:t>- This flowchart outlines how data moves through Hacktoberfest Copilot from start to finish.</a:t>
            </a:r>
          </a:p>
          <a:p>
            <a:r>
              <a:t>- From URL input to cache verification, parallel GitHub fetching, issue triage, and Gemma 4 reasoning.</a:t>
            </a:r>
          </a:p>
          <a:p>
            <a:r>
              <a:t>- Notice the engineering depth: non-blocking worker threadpools, multi-model fallback cascade, and two-tier caching to ensure sub-50 millisecond response times on cached repositories.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Notes (3:30 - 4:15):</a:t>
            </a:r>
          </a:p>
          <a:p>
            <a:r>
              <a:t>- Here is how Hacktoberfest Copilot integrates directly into the standard open-source contribution cycle.</a:t>
            </a:r>
          </a:p>
          <a:p>
            <a:r>
              <a:t>- From finding an issue, understanding guidelines, forking, branching, implementing changes, testing, and opening the PR.</a:t>
            </a:r>
          </a:p>
          <a:p>
            <a:r>
              <a:t>- At every stage where a student usually gets stuck or drops out, Copilot provides actionable, confidence-building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Notes (4:15 - 4:45):</a:t>
            </a:r>
          </a:p>
          <a:p>
            <a:r>
              <a:t>- We solved three critical engineering challenges: rate limits with 2-tier caching, hallucinations with file tree grounding, and latency with asyncio concurrency.</a:t>
            </a:r>
          </a:p>
          <a:p>
            <a:r>
              <a:t>- During Round 2, we shipped live cloud deployments, interactive PR checklists, and automated CI pipelines.</a:t>
            </a:r>
          </a:p>
          <a:p>
            <a:r>
              <a:t>- Our future roadmap includes a GitHub App for maintainers and a VS Code extension for developers.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Notes (4:45 - 5:00):</a:t>
            </a:r>
          </a:p>
          <a:p>
            <a:r>
              <a:t>- In summary: Hacktoberfest Copilot solves the pre-coding barrier, grounds Gemma 4 in real repository architecture, and delivers a production-grade experience.</a:t>
            </a:r>
          </a:p>
          <a:p>
            <a:r>
              <a:t>- We are Team GrandCoders: Asmit, Kartikeya, and Khushhal.</a:t>
            </a:r>
          </a:p>
          <a:p>
            <a:r>
              <a:t>- Remember: 'Build Together. Innovate Together. Open Source Forever.'</a:t>
            </a:r>
          </a:p>
          <a:p>
            <a:r>
              <a:t>- Thank you! Let us now transition directly to the live product walkthrough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4754880" cy="384048"/>
          </a:xfrm>
          <a:prstGeom prst="roundRect">
            <a:avLst/>
          </a:prstGeom>
          <a:solidFill>
            <a:srgbClr val="261914"/>
          </a:solidFill>
          <a:ln>
            <a:solidFill>
              <a:srgbClr val="FF7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7844"/>
                </a:solidFill>
              </a:defRPr>
            </a:pPr>
            <a:r>
              <a:t>🎃 HACKTOBERFEST 2026 • AI-POWERED OPEN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0F6FC"/>
                </a:solidFill>
              </a:defRPr>
            </a:pPr>
            <a:r>
              <a:t>Hacktoberfest Copilot</a:t>
            </a:r>
          </a:p>
          <a:p>
            <a:pPr>
              <a:defRPr sz="2200" b="1">
                <a:solidFill>
                  <a:srgbClr val="00F2FE"/>
                </a:solidFill>
              </a:defRPr>
            </a:pPr>
            <a:r>
              <a:t>AI-Powered Open-Source Contribution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54680"/>
            <a:ext cx="10698480" cy="16459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defRPr sz="1800" b="1">
                <a:solidFill>
                  <a:srgbClr val="FF7844"/>
                </a:solidFill>
              </a:defRPr>
            </a:pPr>
            <a:r>
              <a:t>Turn 'I want to contribute' into 'I have a plan and I'm ready to submit a PR.'</a:t>
            </a:r>
          </a:p>
          <a:p>
            <a:br/>
            <a:pPr>
              <a:defRPr sz="1400">
                <a:solidFill>
                  <a:srgbClr val="F0F6FC"/>
                </a:solidFill>
              </a:defRPr>
            </a:pPr>
            <a:r>
              <a:t>• The Problem: Over 75% of first-time open-source contributors abandon their effort before their first PR.</a:t>
            </a:r>
          </a:p>
          <a:p>
            <a:pPr>
              <a:defRPr sz="1400">
                <a:solidFill>
                  <a:srgbClr val="8B949E"/>
                </a:solidFill>
              </a:defRPr>
            </a:pPr>
            <a:r>
              <a:t>• Our Solution: An intelligent mentor that guides contributors from repository discovery to a maintainer-ready PR.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83480"/>
            <a:ext cx="10698480" cy="1234440"/>
          </a:xfrm>
          <a:prstGeom prst="roundRect">
            <a:avLst/>
          </a:prstGeom>
          <a:solidFill>
            <a:srgbClr val="161B22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defRPr sz="1300" b="1">
                <a:solidFill>
                  <a:srgbClr val="00F2FE"/>
                </a:solidFill>
              </a:defRPr>
            </a:pPr>
            <a:r>
              <a:t>TEAM GRANDCODERS</a:t>
            </a:r>
          </a:p>
          <a:p>
            <a:pPr>
              <a:defRPr sz="1400" b="1">
                <a:solidFill>
                  <a:srgbClr val="F0F6FC"/>
                </a:solidFill>
              </a:defRPr>
            </a:pPr>
            <a:r>
              <a:t>Asmit Anand (Team Lead &amp; Backend)   •   Kartikeya Sorout (Frontend Lead &amp; AI)   •   Khushhal Kumar Bansal (Full-Stack &amp; DevOps)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Tech Stack: Next.js 14 • Python FastAPI • Gemma 4 (Google AI Studio) • GitHub REST API • Docker • Railway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844"/>
                </a:solidFill>
              </a:defRPr>
            </a:pPr>
            <a:r>
              <a:t>● THE OPEN-SOURCE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The Problem Statement: The Contribution Drop-off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384048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700" b="1">
                <a:solidFill>
                  <a:srgbClr val="00F2FE"/>
                </a:solidFill>
              </a:defRPr>
            </a:pPr>
            <a:r>
              <a:t>🔍 Discovery Overload</a:t>
            </a:r>
          </a:p>
          <a:p>
            <a:br/>
            <a:pPr>
              <a:defRPr sz="1400" b="1">
                <a:solidFill>
                  <a:srgbClr val="F0F6FC"/>
                </a:solidFill>
              </a:defRPr>
            </a:pPr>
            <a:r>
              <a:t>Issue Selection Barrier</a:t>
            </a:r>
          </a:p>
          <a:p>
            <a:br/>
            <a:pPr>
              <a:defRPr sz="1300">
                <a:solidFill>
                  <a:srgbClr val="8B949E"/>
                </a:solidFill>
              </a:defRPr>
            </a:pPr>
            <a:r>
              <a:t>Thousands of open issues with vague labels. Beginners struggle to determine which issues match their true skill level and tech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384048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700" b="1">
                <a:solidFill>
                  <a:srgbClr val="FF7844"/>
                </a:solidFill>
              </a:defRPr>
            </a:pPr>
            <a:r>
              <a:t>🧩 Codebase Confusion</a:t>
            </a:r>
          </a:p>
          <a:p>
            <a:br/>
            <a:pPr>
              <a:defRPr sz="1400" b="1">
                <a:solidFill>
                  <a:srgbClr val="F0F6FC"/>
                </a:solidFill>
              </a:defRPr>
            </a:pPr>
            <a:r>
              <a:t>Architectural Intimidation</a:t>
            </a:r>
          </a:p>
          <a:p>
            <a:br/>
            <a:pPr>
              <a:defRPr sz="1300">
                <a:solidFill>
                  <a:srgbClr val="8B949E"/>
                </a:solidFill>
              </a:defRPr>
            </a:pPr>
            <a:r>
              <a:t>Unfamiliar directory structures, thousands of files, and complex internal terminology make exploration overwhelming.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384048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700" b="1">
                <a:solidFill>
                  <a:srgbClr val="A855F7"/>
                </a:solidFill>
              </a:defRPr>
            </a:pPr>
            <a:r>
              <a:t>🧱 Analysis Paralysis</a:t>
            </a:r>
          </a:p>
          <a:p>
            <a:br/>
            <a:pPr>
              <a:defRPr sz="1400" b="1">
                <a:solidFill>
                  <a:srgbClr val="F0F6FC"/>
                </a:solidFill>
              </a:defRPr>
            </a:pPr>
            <a:r>
              <a:t>Missing File Mapping</a:t>
            </a:r>
          </a:p>
          <a:p>
            <a:br/>
            <a:pPr>
              <a:defRPr sz="1300">
                <a:solidFill>
                  <a:srgbClr val="8B949E"/>
                </a:solidFill>
              </a:defRPr>
            </a:pPr>
            <a:r>
              <a:t>Knowing what the bug is, but having no idea which 2 files out of 5,000 need modification or how to approach the fix.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384048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📝 PR Anxiety</a:t>
            </a:r>
          </a:p>
          <a:p>
            <a:br/>
            <a:pPr>
              <a:defRPr sz="1400" b="1">
                <a:solidFill>
                  <a:srgbClr val="F0F6FC"/>
                </a:solidFill>
              </a:defRPr>
            </a:pPr>
            <a:r>
              <a:t>Quality &amp; Rejection Fear</a:t>
            </a:r>
          </a:p>
          <a:p>
            <a:br/>
            <a:pPr>
              <a:defRPr sz="1300">
                <a:solidFill>
                  <a:srgbClr val="8B949E"/>
                </a:solidFill>
              </a:defRPr>
            </a:pPr>
            <a:r>
              <a:t>Fear of maintainer rejection due to missing unit tests, incorrect git branches, or unformatted PR descriptions.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1C1410"/>
          </a:solidFill>
          <a:ln>
            <a:solidFill>
              <a:srgbClr val="FF7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0F6FC"/>
                </a:solidFill>
              </a:defRPr>
            </a:pPr>
            <a:r>
              <a:t>🎯 Core Motivation: The problem is NOT a lack of open-source issues, but the lack of personalized guidance between finding an issue and making the contribution.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844"/>
                </a:solidFill>
              </a:defRPr>
            </a:pPr>
            <a:r>
              <a:t>● OUR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The Solution: Hacktoberfest Copilot &amp; 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488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🔍 Smart Issue Triage &amp; Difficulty Filters</a:t>
            </a:r>
          </a:p>
          <a:p>
            <a:br/>
            <a:pPr>
              <a:defRPr sz="1200">
                <a:solidFill>
                  <a:srgbClr val="F0F6FC"/>
                </a:solidFill>
              </a:defRPr>
            </a:pPr>
            <a:r>
              <a:t>Auto-detects repository languages and tech stack. Analyzes all open issues and categorizes them by difficulty (Beginner, Intermediate, Advanced) and program tags (GSSoC Levels 1/2/3).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1488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FF7844"/>
                </a:solidFill>
              </a:defRPr>
            </a:pPr>
            <a:r>
              <a:t>🧠 Plain-English Jargon Buster (Gemma 4)</a:t>
            </a:r>
          </a:p>
          <a:p>
            <a:br/>
            <a:pPr>
              <a:defRPr sz="1200">
                <a:solidFill>
                  <a:srgbClr val="F0F6FC"/>
                </a:solidFill>
              </a:defRPr>
            </a:pPr>
            <a:r>
              <a:t>Translates dense, cryptic issue descriptions into accessible beginner explanations. Automatically extracts repository-specific jargon and generates a helpful glossary.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1488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A855F7"/>
                </a:solidFill>
              </a:defRPr>
            </a:pPr>
            <a:r>
              <a:t>📁 Targeted File &amp; Component Mapping</a:t>
            </a:r>
          </a:p>
          <a:p>
            <a:br/>
            <a:pPr>
              <a:defRPr sz="1200">
                <a:solidFill>
                  <a:srgbClr val="F0F6FC"/>
                </a:solidFill>
              </a:defRPr>
            </a:pPr>
            <a:r>
              <a:t>Inspects the GitHub file tree to identify precisely which files and components require changes, eliminating analysis paralysis in massive codebases.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3383280" cy="21488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🛠️ Step-by-Step Implementation Roadmap</a:t>
            </a:r>
          </a:p>
          <a:p>
            <a:br/>
            <a:pPr>
              <a:defRPr sz="1200">
                <a:solidFill>
                  <a:srgbClr val="F0F6FC"/>
                </a:solidFill>
              </a:defRPr>
            </a:pPr>
            <a:r>
              <a:t>Generates a structured, chronological blueprint: Environment setup, logic modifications, and verification steps so contributors know exactly what code to write.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69080"/>
            <a:ext cx="3383280" cy="21488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🧪 Unit Test Scaffolding &amp; Framework Suggestion</a:t>
            </a:r>
          </a:p>
          <a:p>
            <a:br/>
            <a:pPr>
              <a:defRPr sz="1200">
                <a:solidFill>
                  <a:srgbClr val="F0F6FC"/>
                </a:solidFill>
              </a:defRPr>
            </a:pPr>
            <a:r>
              <a:t>Identifies the project's testing framework (pytest, Jest, Go test) and scaffolds runnable test cases with 1-click clipboard copy.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69080"/>
            <a:ext cx="3383280" cy="21488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FF7844"/>
                </a:solidFill>
              </a:defRPr>
            </a:pPr>
            <a:r>
              <a:t>📝 PR Generator &amp; Pre-Flight Readiness Checklist</a:t>
            </a:r>
          </a:p>
          <a:p>
            <a:br/>
            <a:pPr>
              <a:defRPr sz="1200">
                <a:solidFill>
                  <a:srgbClr val="F0F6FC"/>
                </a:solidFill>
              </a:defRPr>
            </a:pPr>
            <a:r>
              <a:t>Drafts a professional markdown PR description. Features an interactive pre-flight checklist modal that calculates a live readiness score before pushing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844"/>
                </a:solidFill>
              </a:defRPr>
            </a:pPr>
            <a:r>
              <a:t>●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System Architecture: Decoupled &amp; Grounded AI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0040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00F2FE"/>
                </a:solidFill>
              </a:defRPr>
            </a:pPr>
            <a:r>
              <a:t>FRONTEND LAYER</a:t>
            </a:r>
          </a:p>
          <a:p>
            <a:br/>
            <a:pPr>
              <a:defRPr sz="1500" b="1">
                <a:solidFill>
                  <a:srgbClr val="F0F6FC"/>
                </a:solidFill>
              </a:defRPr>
            </a:pPr>
            <a:r>
              <a:t>Next.js 14 (App Router)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• React 18 &amp; CSS Modules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• Dual Theme Engine (Dark/Light)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• Keyboard Shortcuts ('/' search)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• Client sessionStorage Caching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• Interactive PR Checklist Modal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• Roadmap Export (.md &amp; PDF)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• Deployed on Vercel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23360" y="3474720"/>
            <a:ext cx="457200" cy="365760"/>
          </a:xfrm>
          <a:prstGeom prst="rightArrow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29184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FF7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FF7844"/>
                </a:solidFill>
              </a:defRPr>
            </a:pPr>
            <a:r>
              <a:t>BACKEND SERVICE</a:t>
            </a:r>
          </a:p>
          <a:p>
            <a:br/>
            <a:pPr>
              <a:defRPr sz="1500" b="1">
                <a:solidFill>
                  <a:srgbClr val="F0F6FC"/>
                </a:solidFill>
              </a:defRPr>
            </a:pPr>
            <a:r>
              <a:t>Python FastAPI &amp; Uvicorn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• In-Memory TTL Cache (1h window)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• Parallel asyncio.gather fetches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• Worker Threadpool (non-blocking)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• Strict Pydantic Data Models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• CORS Wildcard Configuration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• Docker Containerized Service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• Deployed on Railway / Render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955279" y="3474720"/>
            <a:ext cx="457200" cy="365760"/>
          </a:xfrm>
          <a:prstGeom prst="rightArrow">
            <a:avLst/>
          </a:prstGeom>
          <a:solidFill>
            <a:srgbClr val="FF7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0" y="1645920"/>
            <a:ext cx="292608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EXTERNAL / AI LAYER</a:t>
            </a:r>
          </a:p>
          <a:p>
            <a:br/>
            <a:pPr>
              <a:defRPr sz="1400" b="1">
                <a:solidFill>
                  <a:srgbClr val="F0F6FC"/>
                </a:solidFill>
              </a:defRPr>
            </a:pPr>
            <a:r>
              <a:t>GitHub REST API v3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• Repository trees &amp; commits</a:t>
            </a:r>
            <a:br/>
            <a:r>
              <a:t>• Issues, labels, and guidelines</a:t>
            </a:r>
            <a:br/>
            <a:r>
              <a:t>• Auth token support (5k req/hr)</a:t>
            </a:r>
          </a:p>
          <a:p>
            <a:br/>
            <a:pPr>
              <a:defRPr sz="1400" b="1">
                <a:solidFill>
                  <a:srgbClr val="F0F6FC"/>
                </a:solidFill>
              </a:defRPr>
            </a:pPr>
            <a:r>
              <a:t>Google AI Studio (Gemma 4)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• Real File Tree Grounding</a:t>
            </a:r>
            <a:br/>
            <a:r>
              <a:t>• Structured JSON Output Schemas</a:t>
            </a:r>
            <a:br/>
            <a:r>
              <a:t>• Dynamic Model Discovery</a:t>
            </a:r>
            <a:br/>
            <a:r>
              <a:t>• Automatic Gemini Flash Fallback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844"/>
                </a:solidFill>
              </a:defRPr>
            </a:pPr>
            <a:r>
              <a:t>●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End-to-End System Workflow &amp; Technical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645920" cy="2011680"/>
          </a:xfrm>
          <a:prstGeom prst="roundRect">
            <a:avLst/>
          </a:prstGeom>
          <a:solidFill>
            <a:srgbClr val="161B22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200" b="1">
                <a:solidFill>
                  <a:srgbClr val="00F2FE"/>
                </a:solidFill>
              </a:defRPr>
            </a:pPr>
            <a:r>
              <a:t>1. START / INPUT</a:t>
            </a:r>
          </a:p>
          <a:p>
            <a:br/>
            <a:pPr>
              <a:defRPr sz="1100">
                <a:solidFill>
                  <a:srgbClr val="F0F6FC"/>
                </a:solidFill>
              </a:defRPr>
            </a:pPr>
            <a:r>
              <a:t>User enters public GitHub URL.</a:t>
            </a:r>
            <a:br/>
            <a:r>
              <a:t>(e.g., pallets/flask)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2032" y="1645920"/>
            <a:ext cx="1645920" cy="2011680"/>
          </a:xfrm>
          <a:prstGeom prst="roundRect">
            <a:avLst/>
          </a:prstGeom>
          <a:solidFill>
            <a:srgbClr val="161B22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200" b="1">
                <a:solidFill>
                  <a:srgbClr val="A855F7"/>
                </a:solidFill>
              </a:defRPr>
            </a:pPr>
            <a:r>
              <a:t>2. CACHE CHECK</a:t>
            </a:r>
          </a:p>
          <a:p>
            <a:br/>
            <a:pPr>
              <a:defRPr sz="1100">
                <a:solidFill>
                  <a:srgbClr val="F0F6FC"/>
                </a:solidFill>
              </a:defRPr>
            </a:pPr>
            <a:r>
              <a:t>FastAPI checks in-memory TTL cache.</a:t>
            </a:r>
            <a:br/>
            <a:r>
              <a:t>If hit: &lt;50ms return.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645920"/>
            <a:ext cx="1645920" cy="2011680"/>
          </a:xfrm>
          <a:prstGeom prst="roundRect">
            <a:avLst/>
          </a:prstGeom>
          <a:solidFill>
            <a:srgbClr val="161B22"/>
          </a:solidFill>
          <a:ln>
            <a:solidFill>
              <a:srgbClr val="FF7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200" b="1">
                <a:solidFill>
                  <a:srgbClr val="FF7844"/>
                </a:solidFill>
              </a:defRPr>
            </a:pPr>
            <a:r>
              <a:t>3. CONCURRENT FETCH</a:t>
            </a:r>
          </a:p>
          <a:p>
            <a:br/>
            <a:pPr>
              <a:defRPr sz="1100">
                <a:solidFill>
                  <a:srgbClr val="F0F6FC"/>
                </a:solidFill>
              </a:defRPr>
            </a:pPr>
            <a:r>
              <a:t>If miss: asyncio.gather pulls repo tree, issues &amp; guidelines.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645920"/>
            <a:ext cx="1645920" cy="2011680"/>
          </a:xfrm>
          <a:prstGeom prst="roundRect">
            <a:avLst/>
          </a:prstGeom>
          <a:solidFill>
            <a:srgbClr val="161B2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4. ISSUE TRIAGE</a:t>
            </a:r>
          </a:p>
          <a:p>
            <a:br/>
            <a:pPr>
              <a:defRPr sz="1100">
                <a:solidFill>
                  <a:srgbClr val="F0F6FC"/>
                </a:solidFill>
              </a:defRPr>
            </a:pPr>
            <a:r>
              <a:t>Ranks issues by difficulty (Beginner, GSSoC) &amp; tech stack.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3568" y="1645920"/>
            <a:ext cx="1645920" cy="2011680"/>
          </a:xfrm>
          <a:prstGeom prst="roundRect">
            <a:avLst/>
          </a:prstGeom>
          <a:solidFill>
            <a:srgbClr val="161B22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200" b="1">
                <a:solidFill>
                  <a:srgbClr val="00F2FE"/>
                </a:solidFill>
              </a:defRPr>
            </a:pPr>
            <a:r>
              <a:t>5. GROUNDED AI</a:t>
            </a:r>
          </a:p>
          <a:p>
            <a:br/>
            <a:pPr>
              <a:defRPr sz="1100">
                <a:solidFill>
                  <a:srgbClr val="F0F6FC"/>
                </a:solidFill>
              </a:defRPr>
            </a:pPr>
            <a:r>
              <a:t>Gemma 4 reasons with tree context in worker threadpool.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645920"/>
            <a:ext cx="1645920" cy="2011680"/>
          </a:xfrm>
          <a:prstGeom prst="roundRect">
            <a:avLst/>
          </a:prstGeom>
          <a:solidFill>
            <a:srgbClr val="161B22"/>
          </a:solidFill>
          <a:ln>
            <a:solidFill>
              <a:srgbClr val="FF7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200" b="1">
                <a:solidFill>
                  <a:srgbClr val="FF7844"/>
                </a:solidFill>
              </a:defRPr>
            </a:pPr>
            <a:r>
              <a:t>6. OUTPUT HUB</a:t>
            </a:r>
          </a:p>
          <a:p>
            <a:br/>
            <a:pPr>
              <a:defRPr sz="1100">
                <a:solidFill>
                  <a:srgbClr val="F0F6FC"/>
                </a:solidFill>
              </a:defRPr>
            </a:pPr>
            <a:r>
              <a:t>Renders Plan, File Pointers, Tests, and PR Draft.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3774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⚡ High-Performance Concurrency</a:t>
            </a:r>
          </a:p>
          <a:p>
            <a:br/>
            <a:pPr>
              <a:defRPr sz="1200">
                <a:solidFill>
                  <a:srgbClr val="8B949E"/>
                </a:solidFill>
              </a:defRPr>
            </a:pPr>
            <a:r>
              <a:t>All GitHub API endpoints (meta, languages, tree, issues) are gathered concurrently via httpx/asyncio. Synchronous Google AI SDK calls run inside asyncio.to_thread worker threadpools to keep the FastAPI event loop non-blocking.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931920"/>
            <a:ext cx="3383280" cy="23774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500" b="1">
                <a:solidFill>
                  <a:srgbClr val="FF7844"/>
                </a:solidFill>
              </a:defRPr>
            </a:pPr>
            <a:r>
              <a:t>🛡️ Resilient Model Fallback</a:t>
            </a:r>
          </a:p>
          <a:p>
            <a:br/>
            <a:pPr>
              <a:defRPr sz="1200">
                <a:solidFill>
                  <a:srgbClr val="8B949E"/>
                </a:solidFill>
              </a:defRPr>
            </a:pPr>
            <a:r>
              <a:t>The AI service dynamically queries available models on the active API key. If primary Gemma 4 faces upstream rate limiting, it automatically falls back across gemini-1.5-flash and gemini-pro transparently to the user.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931920"/>
            <a:ext cx="3383280" cy="23774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📦 Two-Tier Intelligent Caching</a:t>
            </a:r>
          </a:p>
          <a:p>
            <a:br/>
            <a:pPr>
              <a:defRPr sz="1200">
                <a:solidFill>
                  <a:srgbClr val="8B949E"/>
                </a:solidFill>
              </a:defRPr>
            </a:pPr>
            <a:r>
              <a:t>Browser sessionStorage caches analyzed repositories across user page transitions. Backend in-memory TTL cache (1-hour window) eliminates redundant GitHub API calls and protects rate limits.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844"/>
                </a:solidFill>
              </a:defRPr>
            </a:pPr>
            <a:r>
              <a:t>● CONTRIBUTION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GitHub &amp; Hacktoberfest Contribution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920240"/>
          </a:xfrm>
          <a:prstGeom prst="roundRect">
            <a:avLst/>
          </a:prstGeom>
          <a:solidFill>
            <a:srgbClr val="161B22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Step 1: Discover</a:t>
            </a:r>
          </a:p>
          <a:p>
            <a:br/>
            <a:pPr>
              <a:defRPr sz="1200">
                <a:solidFill>
                  <a:srgbClr val="F0F6FC"/>
                </a:solidFill>
              </a:defRPr>
            </a:pPr>
            <a:r>
              <a:t>Find target repo &amp; filter beginner-friendly issues in Copilot.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1920240"/>
          </a:xfrm>
          <a:prstGeom prst="roundRect">
            <a:avLst/>
          </a:prstGeom>
          <a:solidFill>
            <a:srgbClr val="161B22"/>
          </a:solidFill>
          <a:ln>
            <a:solidFill>
              <a:srgbClr val="FF7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F7844"/>
                </a:solidFill>
              </a:defRPr>
            </a:pPr>
            <a:r>
              <a:t>Step 2: Understand</a:t>
            </a:r>
          </a:p>
          <a:p>
            <a:br/>
            <a:pPr>
              <a:defRPr sz="1200">
                <a:solidFill>
                  <a:srgbClr val="F0F6FC"/>
                </a:solidFill>
              </a:defRPr>
            </a:pPr>
            <a:r>
              <a:t>Read Gemma 4 plain-English breakdown &amp; jargon glossary.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1920240"/>
          </a:xfrm>
          <a:prstGeom prst="roundRect">
            <a:avLst/>
          </a:prstGeom>
          <a:solidFill>
            <a:srgbClr val="161B22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Step 3: Fork &amp; Clone</a:t>
            </a:r>
          </a:p>
          <a:p>
            <a:br/>
            <a:pPr>
              <a:defRPr sz="1200">
                <a:solidFill>
                  <a:srgbClr val="F0F6FC"/>
                </a:solidFill>
              </a:defRPr>
            </a:pPr>
            <a:r>
              <a:t>Fork repo on GitHub and clone locally to machine.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1920240"/>
          </a:xfrm>
          <a:prstGeom prst="roundRect">
            <a:avLst/>
          </a:prstGeom>
          <a:solidFill>
            <a:srgbClr val="161B2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Step 4: Branch</a:t>
            </a:r>
          </a:p>
          <a:p>
            <a:br/>
            <a:pPr>
              <a:defRPr sz="1200">
                <a:solidFill>
                  <a:srgbClr val="F0F6FC"/>
                </a:solidFill>
              </a:defRPr>
            </a:pPr>
            <a:r>
              <a:t>Create a clean descriptive feature branch (`git checkout -b fix-123`).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2468880" cy="1920240"/>
          </a:xfrm>
          <a:prstGeom prst="roundRect">
            <a:avLst/>
          </a:prstGeom>
          <a:solidFill>
            <a:srgbClr val="161B22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Step 5: Code Changes</a:t>
            </a:r>
          </a:p>
          <a:p>
            <a:br/>
            <a:pPr>
              <a:defRPr sz="1200">
                <a:solidFill>
                  <a:srgbClr val="F0F6FC"/>
                </a:solidFill>
              </a:defRPr>
            </a:pPr>
            <a:r>
              <a:t>Follow Copilot's targeted file pointers &amp; implementation steps.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794760"/>
            <a:ext cx="2468880" cy="1920240"/>
          </a:xfrm>
          <a:prstGeom prst="roundRect">
            <a:avLst/>
          </a:prstGeom>
          <a:solidFill>
            <a:srgbClr val="161B22"/>
          </a:solidFill>
          <a:ln>
            <a:solidFill>
              <a:srgbClr val="FF7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FF7844"/>
                </a:solidFill>
              </a:defRPr>
            </a:pPr>
            <a:r>
              <a:t>Step 6: Test &amp; Verify</a:t>
            </a:r>
          </a:p>
          <a:p>
            <a:br/>
            <a:pPr>
              <a:defRPr sz="1200">
                <a:solidFill>
                  <a:srgbClr val="F0F6FC"/>
                </a:solidFill>
              </a:defRPr>
            </a:pPr>
            <a:r>
              <a:t>Run scaffolding tests using detected project test runner.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94760"/>
            <a:ext cx="2468880" cy="1920240"/>
          </a:xfrm>
          <a:prstGeom prst="roundRect">
            <a:avLst/>
          </a:prstGeom>
          <a:solidFill>
            <a:srgbClr val="161B22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Step 7: Pre-Flight Check</a:t>
            </a:r>
          </a:p>
          <a:p>
            <a:br/>
            <a:pPr>
              <a:defRPr sz="1200">
                <a:solidFill>
                  <a:srgbClr val="F0F6FC"/>
                </a:solidFill>
              </a:defRPr>
            </a:pPr>
            <a:r>
              <a:t>Complete Copilot PR checklist: readiness score reaches 100%.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794760"/>
            <a:ext cx="2468880" cy="1920240"/>
          </a:xfrm>
          <a:prstGeom prst="roundRect">
            <a:avLst/>
          </a:prstGeom>
          <a:solidFill>
            <a:srgbClr val="161B2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Step 8: Open PR &amp; Merge</a:t>
            </a:r>
          </a:p>
          <a:p>
            <a:br/>
            <a:pPr>
              <a:defRPr sz="1200">
                <a:solidFill>
                  <a:srgbClr val="F0F6FC"/>
                </a:solidFill>
              </a:defRPr>
            </a:pPr>
            <a:r>
              <a:t>1-click copy professional PR description and merge into upstream! 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852160"/>
            <a:ext cx="10698480" cy="594360"/>
          </a:xfrm>
          <a:prstGeom prst="roundRect">
            <a:avLst/>
          </a:prstGeom>
          <a:solidFill>
            <a:srgbClr val="161B2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🤝 Collaboration Pillars: Code Quality • Automated Testing • Transparent Documentation • Constructive Code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844"/>
                </a:solidFill>
              </a:defRPr>
            </a:pPr>
            <a:r>
              <a:t>● IMPACT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Demonstrated Impact, Challenges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61B22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700" b="1">
                <a:solidFill>
                  <a:srgbClr val="00F2FE"/>
                </a:solidFill>
              </a:defRPr>
            </a:pPr>
            <a:r>
              <a:t>Impact &amp; Technical Challenges Overcome</a:t>
            </a:r>
          </a:p>
          <a:p>
            <a:br/>
            <a:pPr>
              <a:defRPr sz="1200">
                <a:solidFill>
                  <a:srgbClr val="F0F6FC"/>
                </a:solidFill>
              </a:defRPr>
            </a:pPr>
            <a:r>
              <a:t>• Community Impact: Democratizes open-source by turning high-friction issues into structured, accessible learning paths.</a:t>
            </a:r>
          </a:p>
          <a:p>
            <a:br/>
            <a:pPr>
              <a:defRPr sz="1200">
                <a:solidFill>
                  <a:srgbClr val="8B949E"/>
                </a:solidFill>
              </a:defRPr>
            </a:pPr>
            <a:r>
              <a:t>• Challenge 1 (Rate Limits): GitHub anonymous limit is 60 req/hr. Solved by 2-tier TTL caching and authorization token support.</a:t>
            </a:r>
          </a:p>
          <a:p>
            <a:br/>
            <a:pPr>
              <a:defRPr sz="1200">
                <a:solidFill>
                  <a:srgbClr val="8B949E"/>
                </a:solidFill>
              </a:defRPr>
            </a:pPr>
            <a:r>
              <a:t>• Challenge 2 (Hallucinations): Solved by feeding verified GitHub repository file trees into Gemma 4's system prompt constraints.</a:t>
            </a:r>
          </a:p>
          <a:p>
            <a:br/>
            <a:pPr>
              <a:defRPr sz="1200">
                <a:solidFill>
                  <a:srgbClr val="8B949E"/>
                </a:solidFill>
              </a:defRPr>
            </a:pPr>
            <a:r>
              <a:t>• Challenge 3 (Inference Latency): Solved by asyncio.gather parallelization and threadpool worker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Roadmap: Completed vs Planned Scope</a:t>
            </a:r>
          </a:p>
          <a:p>
            <a:br/>
            <a:pPr>
              <a:defRPr sz="1300" b="1">
                <a:solidFill>
                  <a:srgbClr val="F0F6FC"/>
                </a:solidFill>
              </a:defRPr>
            </a:pPr>
            <a:r>
              <a:t>✅ Completed in Round 2 (Shipped):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  ✓ Live Production Cloud Deployment (Railway + Vercel)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  ✓ Dynamic Model Discovery &amp; Threadpool Concurrency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  ✓ Interactive PR Checklist Modal with Live Readiness Score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  ✓ Roadmap Export (.md &amp; printable PDF)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  ✓ Automated CI/CD Pipeline (Flake8, Pytest, Next.js Build)</a:t>
            </a:r>
          </a:p>
          <a:p>
            <a:br/>
            <a:pPr>
              <a:defRPr sz="1300" b="1">
                <a:solidFill>
                  <a:srgbClr val="FF7844"/>
                </a:solidFill>
              </a:defRPr>
            </a:pPr>
            <a:r>
              <a:t>🔮 Planned Future Scope (Post-Hackathon):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  • GitHub App / Bot: Auto-mentors contributors directly in issue comments.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  • VS Code &amp; Cursor Extension: Brings file tree guidance into developer IDEs.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  • Maintainer Dashboards: Analytics on beginner issue resolution rates.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844"/>
                </a:solidFill>
              </a:defRPr>
            </a:pPr>
            <a:r>
              <a:t>● CONCLUSION &amp; 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Conclusion: Empowering the Next Generation of Builders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463040"/>
          </a:xfrm>
          <a:prstGeom prst="roundRect">
            <a:avLst/>
          </a:prstGeom>
          <a:solidFill>
            <a:srgbClr val="161B22"/>
          </a:solidFill>
          <a:ln>
            <a:solidFill>
              <a:srgbClr val="FF7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700" b="1">
                <a:solidFill>
                  <a:srgbClr val="F0F6FC"/>
                </a:solidFill>
              </a:defRPr>
            </a:pPr>
            <a:r>
              <a:t>Asmit Anand</a:t>
            </a:r>
          </a:p>
          <a:p>
            <a:br/>
            <a:pPr>
              <a:defRPr sz="1300">
                <a:solidFill>
                  <a:srgbClr val="FF7844"/>
                </a:solidFill>
              </a:defRPr>
            </a:pPr>
            <a:r>
              <a:t>Team Lead &amp; Backend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1463040"/>
          </a:xfrm>
          <a:prstGeom prst="roundRect">
            <a:avLst/>
          </a:prstGeom>
          <a:solidFill>
            <a:srgbClr val="161B22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700" b="1">
                <a:solidFill>
                  <a:srgbClr val="F0F6FC"/>
                </a:solidFill>
              </a:defRPr>
            </a:pPr>
            <a:r>
              <a:t>Kartikeya Sorout</a:t>
            </a:r>
          </a:p>
          <a:p>
            <a:br/>
            <a:pPr>
              <a:defRPr sz="1300">
                <a:solidFill>
                  <a:srgbClr val="00F2FE"/>
                </a:solidFill>
              </a:defRPr>
            </a:pPr>
            <a:r>
              <a:t>Frontend Lead &amp; AI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1463040"/>
          </a:xfrm>
          <a:prstGeom prst="roundRect">
            <a:avLst/>
          </a:prstGeom>
          <a:solidFill>
            <a:srgbClr val="161B22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700" b="1">
                <a:solidFill>
                  <a:srgbClr val="F0F6FC"/>
                </a:solidFill>
              </a:defRPr>
            </a:pPr>
            <a:r>
              <a:t>Khushhal Kumar Bansal</a:t>
            </a:r>
          </a:p>
          <a:p>
            <a:br/>
            <a:pPr>
              <a:defRPr sz="1300">
                <a:solidFill>
                  <a:srgbClr val="A855F7"/>
                </a:solidFill>
              </a:defRPr>
            </a:pPr>
            <a:r>
              <a:t>Full-Stack &amp; DevOps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698480" cy="155448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defRPr sz="1600" b="1">
                <a:solidFill>
                  <a:srgbClr val="00F2FE"/>
                </a:solidFill>
              </a:defRPr>
            </a:pPr>
            <a:r>
              <a:t>Key Project Takeaways:</a:t>
            </a:r>
          </a:p>
          <a:p>
            <a:pPr>
              <a:defRPr sz="1300">
                <a:solidFill>
                  <a:srgbClr val="F0F6FC"/>
                </a:solidFill>
              </a:defRPr>
            </a:pPr>
            <a:r>
              <a:t>1. Solves the Pre-Coding Barrier: Guides contributors from issue discovery to maintainer-ready PR.</a:t>
            </a:r>
          </a:p>
          <a:p>
            <a:pPr>
              <a:defRPr sz="1300">
                <a:solidFill>
                  <a:srgbClr val="F0F6FC"/>
                </a:solidFill>
              </a:defRPr>
            </a:pPr>
            <a:r>
              <a:t>2. Grounded AI Reasoning: Constrains Gemma 4 to verified repository file trees, eliminating hallucinations.</a:t>
            </a:r>
          </a:p>
          <a:p>
            <a:pPr>
              <a:defRPr sz="1300">
                <a:solidFill>
                  <a:srgbClr val="F0F6FC"/>
                </a:solidFill>
              </a:defRPr>
            </a:pPr>
            <a:r>
              <a:t>3. Production-Ready &amp; Deployed: High-performance caching, resilient fallbacks, and active CI/CD.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83480"/>
            <a:ext cx="10698480" cy="1280160"/>
          </a:xfrm>
          <a:prstGeom prst="roundRect">
            <a:avLst/>
          </a:prstGeom>
          <a:solidFill>
            <a:srgbClr val="201612"/>
          </a:solidFill>
          <a:ln>
            <a:solidFill>
              <a:srgbClr val="FF7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000" b="1">
                <a:solidFill>
                  <a:srgbClr val="FF7844"/>
                </a:solidFill>
              </a:defRPr>
            </a:pPr>
            <a:r>
              <a:t>“Build Together. Innovate Together. Open Source Forever.”</a:t>
            </a:r>
          </a:p>
          <a:p>
            <a:pPr algn="ctr">
              <a:defRPr sz="1300">
                <a:solidFill>
                  <a:srgbClr val="F0F6FC"/>
                </a:solidFill>
              </a:defRPr>
            </a:pPr>
            <a:r>
              <a:t>Explore &amp; Star the Repo: github.com/AsmitAnand/HacktoberFest-Team-GrandCoders  |  FastAPI Backend Live on Railway</a:t>
            </a:r>
          </a:p>
          <a:p>
            <a:pPr algn="ctr">
              <a:defRPr sz="1400" b="1">
                <a:solidFill>
                  <a:srgbClr val="00F2FE"/>
                </a:solidFill>
              </a:defRPr>
            </a:pPr>
            <a:r>
              <a:t>🎬 Let's see Hacktoberfest Copilot in action — Over to the live demonstration!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