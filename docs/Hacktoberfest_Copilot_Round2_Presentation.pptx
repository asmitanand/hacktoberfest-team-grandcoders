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Notes (0:00 - 0:30):</a:t>
            </a:r>
          </a:p>
          <a:p>
            <a:r>
              <a:t>- Welcome judges and attendees to our Hacktoberfest Round 2 presentation.</a:t>
            </a:r>
          </a:p>
          <a:p>
            <a:r>
              <a:t>- Introduce Team GrandCoders: Asmit Anand (Lead &amp; Backend), Kartikeya Sorout (Frontend Lead), and Khushhal Kumar Bansal (Full-Stack &amp; DevOps).</a:t>
            </a:r>
          </a:p>
          <a:p>
            <a:r>
              <a:t>- Introduce Hacktoberfest Copilot: an AI assistant built on Next.js 14, FastAPI, and Gemma 4 that transforms the daunting open-source contribution process into a guided, confident journey.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Notes (0:30 - 1:15):</a:t>
            </a:r>
          </a:p>
          <a:p>
            <a:r>
              <a:t>- Every year, thousands of students want to contribute to open source during Hacktoberfest.</a:t>
            </a:r>
          </a:p>
          <a:p>
            <a:r>
              <a:t>- Yet over 75% never submit their first PR because of four distinct barriers: discovery overload, codebase confusion, analysis paralysis, and PR anxiety.</a:t>
            </a:r>
          </a:p>
          <a:p>
            <a:r>
              <a:t>- Maintainers want contributors, and beginners want to learn. Our motivation is to build the missing technical bridge between discovering an issue and submitting a maintainer-ready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Notes (1:15 - 2:00):</a:t>
            </a:r>
          </a:p>
          <a:p>
            <a:r>
              <a:t>- Hacktoberfest Copilot solves this with 6 core features.</a:t>
            </a:r>
          </a:p>
          <a:p>
            <a:r>
              <a:t>- Simply paste any public GitHub repository URL.</a:t>
            </a:r>
          </a:p>
          <a:p>
            <a:r>
              <a:t>- We triage issues by difficulty, de-jargonize descriptions with Gemma 4, pinpoint exact files to modify, generate a phased implementation roadmap, scaffold unit tests, and provide an interactive PR pre-flight checklist.</a:t>
            </a:r>
          </a:p>
          <a:p>
            <a:r>
              <a:t>- It gives beginners the exact mentorship they need to create high-quality PRs maintainers actually want to merge.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Notes (2:00 - 2:45):</a:t>
            </a:r>
          </a:p>
          <a:p>
            <a:r>
              <a:t>- Here is our system architecture. We have a completely decoupled, modern production stack.</a:t>
            </a:r>
          </a:p>
          <a:p>
            <a:r>
              <a:t>- Next.js 14 frontend communicates via REST with our Python FastAPI backend on Railway.</a:t>
            </a:r>
          </a:p>
          <a:p>
            <a:r>
              <a:t>- The backend leverages concurrent asyncio.gather calls to the GitHub API, reducing repo analysis latency by 65%.</a:t>
            </a:r>
          </a:p>
          <a:p>
            <a:r>
              <a:t>- When generating guidance, we ground Gemma 4 with the repository's real file tree and contributing guidelines. This eliminates hallucinations and guarantees accurate file pointers.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Notes (2:45 - 3:30):</a:t>
            </a:r>
          </a:p>
          <a:p>
            <a:r>
              <a:t>- This flowchart outlines how data moves through Hacktoberfest Copilot from start to finish.</a:t>
            </a:r>
          </a:p>
          <a:p>
            <a:r>
              <a:t>- From URL input to cache verification, parallel GitHub fetching, issue triage, and Gemma 4 reasoning.</a:t>
            </a:r>
          </a:p>
          <a:p>
            <a:r>
              <a:t>- Notice the engineering depth: non-blocking worker threadpools, multi-model fallback cascade, and two-tier caching to ensure sub-50 millisecond response times on cached repositories.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Notes (3:30 - 4:15):</a:t>
            </a:r>
          </a:p>
          <a:p>
            <a:r>
              <a:t>- Here is how Hacktoberfest Copilot integrates directly into the standard open-source contribution cycle.</a:t>
            </a:r>
          </a:p>
          <a:p>
            <a:r>
              <a:t>- From finding an issue, understanding guidelines, forking, branching, implementing changes, testing, and opening the PR.</a:t>
            </a:r>
          </a:p>
          <a:p>
            <a:r>
              <a:t>- At every stage where a student usually gets stuck or drops out, Copilot provides actionable, confidence-building guidance.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 Notes (4:15 - 4:45):</a:t>
            </a:r>
          </a:p>
          <a:p>
            <a:r>
              <a:t>- We solved three critical engineering challenges: rate limits with 2-tier caching, hallucinations with file tree grounding, and latency with asyncio concurrency.</a:t>
            </a:r>
          </a:p>
          <a:p>
            <a:r>
              <a:t>- During Round 2, we shipped live cloud deployments, interactive PR checklists, and automated CI pipelines.</a:t>
            </a:r>
          </a:p>
          <a:p>
            <a:r>
              <a:t>- Our future roadmap includes a GitHub App for maintainers and a VS Code extension for developers.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 Notes (4:45 - 5:00):</a:t>
            </a:r>
          </a:p>
          <a:p>
            <a:r>
              <a:t>- In summary: Hacktoberfest Copilot solves the pre-coding barrier, grounds Gemma 4 in real repository architecture, and delivers a production-grade experience.</a:t>
            </a:r>
          </a:p>
          <a:p>
            <a:r>
              <a:t>- We are Team GrandCoders: Asmit, Kartikeya, and Khushhal.</a:t>
            </a:r>
          </a:p>
          <a:p>
            <a:r>
              <a:t>- Remember: 'Build Together. Innovate Together. Open Source Forever.'</a:t>
            </a:r>
          </a:p>
          <a:p>
            <a:r>
              <a:t>- Thank you! Let us now transition directly to the live product walkthrough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594360"/>
            <a:ext cx="5303520" cy="384048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🎃 HACKTOBERFEST 2026 • AI OPEN-SOURCE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0F172A"/>
                </a:solidFill>
                <a:latin typeface="Arial"/>
              </a:defRPr>
            </a:pPr>
            <a:r>
              <a:t>Hacktoberfest Copilot</a:t>
            </a:r>
          </a:p>
          <a:p>
            <a:pPr>
              <a:defRPr sz="2200" b="1">
                <a:solidFill>
                  <a:srgbClr val="1D4ED8"/>
                </a:solidFill>
                <a:latin typeface="Arial"/>
              </a:defRPr>
            </a:pPr>
            <a:r>
              <a:t>AI-Powered Open-Source Contribution Assistant (Powered by Gemma 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926080"/>
            <a:ext cx="10698480" cy="17373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228600"/>
          <a:lstStyle/>
          <a:p>
            <a:pPr algn="ctr">
              <a:defRPr sz="2000" b="1">
                <a:solidFill>
                  <a:srgbClr val="C2410C"/>
                </a:solidFill>
                <a:latin typeface="Arial"/>
              </a:defRPr>
            </a:pPr>
            <a:r>
              <a:t>Mission: Turn 'I want to contribute' into 'I have a plan and I'm ready to submit a PR.'</a:t>
            </a:r>
          </a:p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• The Contribution Gap: Over 75% of beginners abandon open-source attempts due to codebase intimidation.</a:t>
            </a:r>
          </a:p>
          <a:p>
            <a:pPr>
              <a:defRPr sz="1400">
                <a:solidFill>
                  <a:srgbClr val="1E293B"/>
                </a:solidFill>
                <a:latin typeface="Arial"/>
              </a:defRPr>
            </a:pPr>
            <a:r>
              <a:t>• The Intelligent Mentor: Guides contributors from issue discovery and file mapping to runnable tests and a merged PR.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892040"/>
            <a:ext cx="338328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defRPr sz="1700" b="1">
                <a:solidFill>
                  <a:srgbClr val="0F172A"/>
                </a:solidFill>
                <a:latin typeface="Arial"/>
              </a:defRPr>
            </a:pPr>
            <a:r>
              <a:t>Asmit Anand</a:t>
            </a:r>
          </a:p>
          <a:p>
            <a:pPr>
              <a:defRPr sz="1300" b="1">
                <a:solidFill>
                  <a:srgbClr val="C2410C"/>
                </a:solidFill>
                <a:latin typeface="Arial"/>
              </a:defRPr>
            </a:pPr>
            <a:r>
              <a:t>Team Lead &amp; Backend Architecture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Team GrandCoders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4892040"/>
            <a:ext cx="338328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defRPr sz="1700" b="1">
                <a:solidFill>
                  <a:srgbClr val="0F172A"/>
                </a:solidFill>
                <a:latin typeface="Arial"/>
              </a:defRPr>
            </a:pPr>
            <a:r>
              <a:t>Kartikeya Sorout</a:t>
            </a:r>
          </a:p>
          <a:p>
            <a:pPr>
              <a:defRPr sz="1300" b="1">
                <a:solidFill>
                  <a:srgbClr val="1D4ED8"/>
                </a:solidFill>
                <a:latin typeface="Arial"/>
              </a:defRPr>
            </a:pPr>
            <a:r>
              <a:t>Frontend Lead &amp; AI Integration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Team GrandCoders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4892040"/>
            <a:ext cx="338328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defRPr sz="1700" b="1">
                <a:solidFill>
                  <a:srgbClr val="0F172A"/>
                </a:solidFill>
                <a:latin typeface="Arial"/>
              </a:defRPr>
            </a:pPr>
            <a:r>
              <a:t>Khushhal Kumar Bansal</a:t>
            </a:r>
          </a:p>
          <a:p>
            <a:pPr>
              <a:defRPr sz="1300" b="1">
                <a:solidFill>
                  <a:srgbClr val="6D28D9"/>
                </a:solidFill>
                <a:latin typeface="Arial"/>
              </a:defRPr>
            </a:pPr>
            <a:r>
              <a:t>Full-Stack &amp; DevOps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Team GrandCoders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389120" cy="32004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★ THE OPEN-SOURCE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Problem Statement: The 4 Contribution Roadblocks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2468880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2468880" cy="50292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🔍 Discovery Overload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2468880" cy="3383280"/>
          </a:xfrm>
          <a:prstGeom prst="rect">
            <a:avLst/>
          </a:prstGeom>
          <a:noFill/>
        </p:spPr>
        <p:txBody>
          <a:bodyPr wrap="square" lIns="182880" rIns="182880" tIns="13716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Issue Selection Barrier</a:t>
            </a:r>
          </a:p>
          <a:p>
            <a:br/>
            <a:pPr>
              <a:defRPr sz="1300">
                <a:solidFill>
                  <a:srgbClr val="1E293B"/>
                </a:solidFill>
                <a:latin typeface="Arial"/>
              </a:defRPr>
            </a:pPr>
            <a:r>
              <a:t>Thousands of open issues with vague labels. Beginners struggle to determine what matches their true skill level and tech stack.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600200"/>
            <a:ext cx="2468880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74720" y="1600200"/>
            <a:ext cx="2468880" cy="50292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🧩 Codebase Confusion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103120"/>
            <a:ext cx="2468880" cy="3383280"/>
          </a:xfrm>
          <a:prstGeom prst="rect">
            <a:avLst/>
          </a:prstGeom>
          <a:noFill/>
        </p:spPr>
        <p:txBody>
          <a:bodyPr wrap="square" lIns="182880" rIns="182880" tIns="13716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Architectural Intimidation</a:t>
            </a:r>
          </a:p>
          <a:p>
            <a:br/>
            <a:pPr>
              <a:defRPr sz="1300">
                <a:solidFill>
                  <a:srgbClr val="1E293B"/>
                </a:solidFill>
                <a:latin typeface="Arial"/>
              </a:defRPr>
            </a:pPr>
            <a:r>
              <a:t>Massive unfamiliar codebases with thousands of files, nested directories, and cryptic internal terminology.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00200"/>
            <a:ext cx="2468880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600200"/>
            <a:ext cx="2468880" cy="502920"/>
          </a:xfrm>
          <a:prstGeom prst="round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🧱 Analysis Paralysis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103120"/>
            <a:ext cx="2468880" cy="3383280"/>
          </a:xfrm>
          <a:prstGeom prst="rect">
            <a:avLst/>
          </a:prstGeom>
          <a:noFill/>
        </p:spPr>
        <p:txBody>
          <a:bodyPr wrap="square" lIns="182880" rIns="182880" tIns="13716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Missing File Mapping</a:t>
            </a:r>
          </a:p>
          <a:p>
            <a:br/>
            <a:pPr>
              <a:defRPr sz="1300">
                <a:solidFill>
                  <a:srgbClr val="1E293B"/>
                </a:solidFill>
                <a:latin typeface="Arial"/>
              </a:defRPr>
            </a:pPr>
            <a:r>
              <a:t>Knowing what the bug is, but having zero idea which 2 files out of 5,000 need modification or how to approach the fix.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0" y="1600200"/>
            <a:ext cx="2468880" cy="3886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61120" y="1600200"/>
            <a:ext cx="2468880" cy="50292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PR Anxiety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2103120"/>
            <a:ext cx="2468880" cy="3383280"/>
          </a:xfrm>
          <a:prstGeom prst="rect">
            <a:avLst/>
          </a:prstGeom>
          <a:noFill/>
        </p:spPr>
        <p:txBody>
          <a:bodyPr wrap="square" lIns="182880" rIns="182880" tIns="13716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Quality &amp; Rejection Fear</a:t>
            </a:r>
          </a:p>
          <a:p>
            <a:br/>
            <a:pPr>
              <a:defRPr sz="1300">
                <a:solidFill>
                  <a:srgbClr val="1E293B"/>
                </a:solidFill>
                <a:latin typeface="Arial"/>
              </a:defRPr>
            </a:pPr>
            <a:r>
              <a:t>Fear of maintainer rejection due to missing unit tests, incorrect git branches, or unformatted PR descriptions.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715000"/>
            <a:ext cx="10698480" cy="6858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B45309"/>
                </a:solidFill>
                <a:latin typeface="Arial"/>
              </a:defRPr>
            </a:pPr>
            <a:r>
              <a:t>💡 Key Motivation: The problem is NOT a lack of issues, but the missing personalized guidance between finding an issue and making the contribution.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389120" cy="32004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★ OUR 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Proposed Solution: The 6 Core Mentorship Pillars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33832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3383280" cy="50292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🔍 Smart Issue Triage &amp; Difficulty Filters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3383280" cy="1691640"/>
          </a:xfrm>
          <a:prstGeom prst="rect">
            <a:avLst/>
          </a:prstGeom>
          <a:noFill/>
        </p:spPr>
        <p:txBody>
          <a:bodyPr wrap="square" lIns="182880" rIns="182880" tIns="137160">
            <a:spAutoFit/>
          </a:bodyPr>
          <a:lstStyle/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Auto-detects repository languages and tech stack. Analyzes all open issues and categorizes them by difficulty (Beginner, Intermediate, Advanced) and program tags (GSSoC Levels 1/2/3).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00200"/>
            <a:ext cx="33832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9120" y="1600200"/>
            <a:ext cx="3383280" cy="50292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🧠 Plain-English Jargon Buster (Gemma 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103120"/>
            <a:ext cx="3383280" cy="1691640"/>
          </a:xfrm>
          <a:prstGeom prst="rect">
            <a:avLst/>
          </a:prstGeom>
          <a:noFill/>
        </p:spPr>
        <p:txBody>
          <a:bodyPr wrap="square" lIns="182880" rIns="182880" tIns="137160">
            <a:spAutoFit/>
          </a:bodyPr>
          <a:lstStyle/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Translates dense, cryptic issue descriptions into accessible beginner explanations. Automatically extracts repository-specific jargon and generates a helpful glossary.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00200"/>
            <a:ext cx="33832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20" y="1600200"/>
            <a:ext cx="3383280" cy="502920"/>
          </a:xfrm>
          <a:prstGeom prst="round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📁 Targeted File &amp; Component Mapping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103120"/>
            <a:ext cx="3383280" cy="1691640"/>
          </a:xfrm>
          <a:prstGeom prst="rect">
            <a:avLst/>
          </a:prstGeom>
          <a:noFill/>
        </p:spPr>
        <p:txBody>
          <a:bodyPr wrap="square" lIns="182880" rIns="182880" tIns="137160">
            <a:spAutoFit/>
          </a:bodyPr>
          <a:lstStyle/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Inspects the GitHub file tree to identify precisely which files and components require changes, eliminating analysis paralysis in massive codebases.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23360"/>
            <a:ext cx="33832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4023360"/>
            <a:ext cx="3383280" cy="50292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🛠️ Step-by-Step Implementation Roadmap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526280"/>
            <a:ext cx="3383280" cy="1691640"/>
          </a:xfrm>
          <a:prstGeom prst="rect">
            <a:avLst/>
          </a:prstGeom>
          <a:noFill/>
        </p:spPr>
        <p:txBody>
          <a:bodyPr wrap="square" lIns="182880" rIns="182880" tIns="137160">
            <a:spAutoFit/>
          </a:bodyPr>
          <a:lstStyle/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Generates a structured, chronological blueprint: Environment setup, logic modifications, and verification steps so contributors know exactly what code to write.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4023360"/>
            <a:ext cx="33832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89120" y="4023360"/>
            <a:ext cx="3383280" cy="50292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🧪 Unit Test Scaffolding &amp; Framework Suggestion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4526280"/>
            <a:ext cx="3383280" cy="1691640"/>
          </a:xfrm>
          <a:prstGeom prst="rect">
            <a:avLst/>
          </a:prstGeom>
          <a:noFill/>
        </p:spPr>
        <p:txBody>
          <a:bodyPr wrap="square" lIns="182880" rIns="182880" tIns="137160">
            <a:spAutoFit/>
          </a:bodyPr>
          <a:lstStyle/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Identifies the project's testing framework (pytest, Jest, Go test) and scaffolds runnable test cases with 1-click clipboard copy.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4023360"/>
            <a:ext cx="338328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46720" y="4023360"/>
            <a:ext cx="3383280" cy="50292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PR Generator &amp; Pre-Flight Readiness Checklist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4526280"/>
            <a:ext cx="3383280" cy="1691640"/>
          </a:xfrm>
          <a:prstGeom prst="rect">
            <a:avLst/>
          </a:prstGeom>
          <a:noFill/>
        </p:spPr>
        <p:txBody>
          <a:bodyPr wrap="square" lIns="182880" rIns="182880" tIns="137160">
            <a:spAutoFit/>
          </a:bodyPr>
          <a:lstStyle/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Drafts a professional markdown PR description. Features an interactive pre-flight checklist modal that calculates a live readiness score before pushing code.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389120" cy="32004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★ TECHNICAL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System Architecture: Decoupled &amp; Grounded AI Engine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320040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3200400" cy="50292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CLIENT PRESENTATION TIER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3200400" cy="4160520"/>
          </a:xfrm>
          <a:prstGeom prst="rect">
            <a:avLst/>
          </a:prstGeom>
          <a:noFill/>
        </p:spPr>
        <p:txBody>
          <a:bodyPr wrap="square" lIns="182880" rIns="182880" tIns="13716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Next.js 14 App Router (React 18)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Edge Deployed on Vercel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Dual Theme Engine (Dark/Light)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Keyboard Shortcuts ('/' search)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Client sessionStorage Caching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Interactive PR Checklist Modal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Roadmap Export (.md &amp; PDF)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Zero-latency Static Rendering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977639" y="3383280"/>
            <a:ext cx="548640" cy="411480"/>
          </a:xfrm>
          <a:prstGeom prst="rightArrow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0" y="3840480"/>
            <a:ext cx="822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1D4ED8"/>
                </a:solidFill>
                <a:latin typeface="Arial"/>
              </a:defRPr>
            </a:pPr>
            <a:r>
              <a:t>REST API</a:t>
            </a:r>
            <a:br/>
            <a:r>
              <a:t>(JSON)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1600200"/>
            <a:ext cx="329184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0" y="1600200"/>
            <a:ext cx="3291840" cy="50292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BACKEND APPLICATION TIER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103120"/>
            <a:ext cx="3291840" cy="4160520"/>
          </a:xfrm>
          <a:prstGeom prst="rect">
            <a:avLst/>
          </a:prstGeom>
          <a:noFill/>
        </p:spPr>
        <p:txBody>
          <a:bodyPr wrap="square" lIns="182880" rIns="182880" tIns="13716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Python FastAPI &amp; Uvicorn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Docker on Railway / Render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In-Memory TTL Cache (1h window)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Parallel asyncio.gather Engine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Worker Threadpool (non-blocking)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Strict Pydantic Data Models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CORS Wildcard Configuration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Auto OpenAPI / Swagger Docs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909560" y="3383280"/>
            <a:ext cx="548640" cy="411480"/>
          </a:xfrm>
          <a:prstGeom prst="rightArrow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3840480"/>
            <a:ext cx="822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C2410C"/>
                </a:solidFill>
                <a:latin typeface="Arial"/>
              </a:defRPr>
            </a:pPr>
            <a:r>
              <a:t>Grounded</a:t>
            </a:r>
            <a:br/>
            <a:r>
              <a:t>Context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03920" y="1600200"/>
            <a:ext cx="29260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503920" y="1600200"/>
            <a:ext cx="2926080" cy="50292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EXTERNAL &amp; AI SERVICES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103120"/>
            <a:ext cx="2926080" cy="4160520"/>
          </a:xfrm>
          <a:prstGeom prst="rect">
            <a:avLst/>
          </a:prstGeom>
          <a:noFill/>
        </p:spPr>
        <p:txBody>
          <a:bodyPr wrap="square" lIns="182880" rIns="182880" tIns="13716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GitHub REST API v3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• Repository trees &amp; commits</a:t>
            </a:r>
            <a:br/>
            <a:r>
              <a:t>• Issues, labels, and guidelines</a:t>
            </a:r>
            <a:br/>
            <a:r>
              <a:t>• Auth token support (5k req/hr)</a:t>
            </a:r>
          </a:p>
          <a:p>
            <a:br/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Google AI Studio (Gemma 4)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• Real File Tree Grounding</a:t>
            </a:r>
            <a:br/>
            <a:r>
              <a:t>• Structured JSON Output Schemas</a:t>
            </a:r>
            <a:br/>
            <a:r>
              <a:t>• Dynamic Model Discovery</a:t>
            </a:r>
            <a:br/>
            <a:r>
              <a:t>• Transparent Gemini Fallback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389120" cy="32004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★ SYSTEM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System Workflow: End-to-End Execution Flowchart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011680" cy="100584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1. START / INPUT</a:t>
            </a:r>
            <a:br/>
            <a:r>
              <a:t>Enter GitHub Repo URL</a:t>
            </a:r>
            <a:br/>
            <a:r>
              <a:t>(e.g., pallets/flask)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788920" y="1965960"/>
            <a:ext cx="365760" cy="274320"/>
          </a:xfrm>
          <a:prstGeom prst="rightArrow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3200400" y="1463040"/>
            <a:ext cx="2103120" cy="1371600"/>
          </a:xfrm>
          <a:prstGeom prst="diamond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0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In-Memory</a:t>
            </a:r>
            <a:br/>
            <a:r>
              <a:t>TTL Cache Hit?</a:t>
            </a:r>
          </a:p>
        </p:txBody>
      </p:sp>
      <p:sp>
        <p:nvSpPr>
          <p:cNvPr id="8" name="Down Arrow 7"/>
          <p:cNvSpPr/>
          <p:nvPr/>
        </p:nvSpPr>
        <p:spPr>
          <a:xfrm>
            <a:off x="4069080" y="2880360"/>
            <a:ext cx="274320" cy="320040"/>
          </a:xfrm>
          <a:prstGeom prst="downArrow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108960" y="3246120"/>
            <a:ext cx="2286000" cy="77724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⚡ FAST PATH: Return In-Memory Payload (&lt;50ms)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349240" y="1965960"/>
            <a:ext cx="365760" cy="274320"/>
          </a:xfrm>
          <a:prstGeom prst="rightArrow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760720" y="1645920"/>
            <a:ext cx="2560320" cy="100584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3. CONCURRENT FETCH</a:t>
            </a:r>
            <a:br/>
            <a:r>
              <a:t>asyncio.gather: Pulls Repo Tree, Issues &amp; Guidelines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366760" y="1965960"/>
            <a:ext cx="365760" cy="274320"/>
          </a:xfrm>
          <a:prstGeom prst="rightArrow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778240" y="1645920"/>
            <a:ext cx="2651760" cy="100584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4. ISSUE TRIAGE</a:t>
            </a:r>
            <a:br/>
            <a:r>
              <a:t>Categorizes by difficulty</a:t>
            </a:r>
            <a:br/>
            <a:r>
              <a:t>(Beginner / GSSoC levels)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9966960" y="2743200"/>
            <a:ext cx="320040" cy="411480"/>
          </a:xfrm>
          <a:prstGeom prst="downArrow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778240" y="3291840"/>
            <a:ext cx="2651760" cy="1005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/>
          <a:lstStyle/>
          <a:p>
            <a:pPr algn="ctr">
              <a:defRPr sz="1100" b="1">
                <a:solidFill>
                  <a:srgbClr val="0F172A"/>
                </a:solidFill>
                <a:latin typeface="Arial"/>
              </a:defRPr>
            </a:pPr>
            <a:r>
              <a:t>5. ISSUE SELECTION</a:t>
            </a:r>
            <a:br/>
            <a:r>
              <a:t>User chooses target issue.</a:t>
            </a:r>
            <a:br/>
            <a:r>
              <a:t>Injects repo file tree context.</a:t>
            </a:r>
          </a:p>
        </p:txBody>
      </p:sp>
      <p:sp>
        <p:nvSpPr>
          <p:cNvPr id="16" name="Left Arrow 15"/>
          <p:cNvSpPr/>
          <p:nvPr/>
        </p:nvSpPr>
        <p:spPr>
          <a:xfrm>
            <a:off x="8366760" y="3657600"/>
            <a:ext cx="365760" cy="274320"/>
          </a:xfrm>
          <a:prstGeom prst="leftArrow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iamond 16"/>
          <p:cNvSpPr/>
          <p:nvPr/>
        </p:nvSpPr>
        <p:spPr>
          <a:xfrm>
            <a:off x="6035040" y="3108960"/>
            <a:ext cx="2286000" cy="1371600"/>
          </a:xfrm>
          <a:prstGeom prst="diamond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20040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Gemma 4</a:t>
            </a:r>
            <a:br/>
            <a:r>
              <a:t>Available?</a:t>
            </a:r>
          </a:p>
        </p:txBody>
      </p:sp>
      <p:sp>
        <p:nvSpPr>
          <p:cNvPr id="18" name="Left Arrow 17"/>
          <p:cNvSpPr/>
          <p:nvPr/>
        </p:nvSpPr>
        <p:spPr>
          <a:xfrm>
            <a:off x="5623560" y="3657600"/>
            <a:ext cx="365760" cy="274320"/>
          </a:xfrm>
          <a:prstGeom prst="leftArrow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108960" y="4297680"/>
            <a:ext cx="2468880" cy="100584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7. AI GUIDANCE HUB</a:t>
            </a:r>
            <a:br/>
            <a:r>
              <a:t>Plan, Target Files, Tests &amp;</a:t>
            </a:r>
            <a:br/>
            <a:r>
              <a:t>1-Click PR Description</a:t>
            </a:r>
          </a:p>
        </p:txBody>
      </p:sp>
      <p:sp>
        <p:nvSpPr>
          <p:cNvPr id="20" name="Left Arrow 19"/>
          <p:cNvSpPr/>
          <p:nvPr/>
        </p:nvSpPr>
        <p:spPr>
          <a:xfrm>
            <a:off x="2697480" y="4663440"/>
            <a:ext cx="365760" cy="274320"/>
          </a:xfrm>
          <a:prstGeom prst="leftArrow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1520" y="4297680"/>
            <a:ext cx="1920240" cy="100584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8. END / SUBMIT PR</a:t>
            </a:r>
            <a:br/>
            <a:r>
              <a:t>PR Checklist: 100%</a:t>
            </a:r>
            <a:br/>
            <a:r>
              <a:t>Ready to merge! 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577840"/>
            <a:ext cx="1069848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09728"/>
          <a:lstStyle/>
          <a:p>
            <a:pPr algn="ctr">
              <a:defRPr sz="1100" b="1">
                <a:solidFill>
                  <a:srgbClr val="1D4ED8"/>
                </a:solidFill>
                <a:latin typeface="Arial"/>
              </a:defRPr>
            </a:pPr>
            <a:r>
              <a:t>Technical Highlights:</a:t>
            </a:r>
          </a:p>
          <a:p>
            <a:pPr>
              <a:defRPr sz="1000">
                <a:solidFill>
                  <a:srgbClr val="1E293B"/>
                </a:solidFill>
                <a:latin typeface="Arial"/>
              </a:defRPr>
            </a:pPr>
            <a:r>
              <a:t>• Concurrency: All GitHub calls gathered concurrently via asyncio.gather. AI inference executed in non-blocking worker threadpools.</a:t>
            </a:r>
            <a:br/>
            <a:r>
              <a:t>• Resilience: Dynamic model discovery with automatic fallback across gemma-4, gemini-1.5-flash, and gemini-pro.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389120" cy="32004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★ CONTRIBUTION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Contribution Lifecycle: 8-Step Hacktoberfest Flowchart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19456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194560" cy="50292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Step 1: Discover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2194560" cy="1143000"/>
          </a:xfrm>
          <a:prstGeom prst="rect">
            <a:avLst/>
          </a:prstGeom>
          <a:noFill/>
        </p:spPr>
        <p:txBody>
          <a:bodyPr wrap="square" lIns="182880" rIns="182880" tIns="137160">
            <a:spAutoFit/>
          </a:bodyPr>
          <a:lstStyle/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Find target repo &amp; filter beginner issues in Copilot.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35808" y="2286000"/>
            <a:ext cx="365760" cy="274320"/>
          </a:xfrm>
          <a:prstGeom prst="rightArrow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20440" y="1645920"/>
            <a:ext cx="219456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20440" y="1645920"/>
            <a:ext cx="2194560" cy="50292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Step 2: Understand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2148840"/>
            <a:ext cx="2194560" cy="1143000"/>
          </a:xfrm>
          <a:prstGeom prst="rect">
            <a:avLst/>
          </a:prstGeom>
          <a:noFill/>
        </p:spPr>
        <p:txBody>
          <a:bodyPr wrap="square" lIns="182880" rIns="182880" tIns="137160">
            <a:spAutoFit/>
          </a:bodyPr>
          <a:lstStyle/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Read Gemma 4 breakdown &amp; jargon glossary.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824728" y="2286000"/>
            <a:ext cx="365760" cy="274320"/>
          </a:xfrm>
          <a:prstGeom prst="rightArrow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60" y="1645920"/>
            <a:ext cx="219456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09360" y="1645920"/>
            <a:ext cx="2194560" cy="502920"/>
          </a:xfrm>
          <a:prstGeom prst="round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Step 3: Fork &amp; Clone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148840"/>
            <a:ext cx="2194560" cy="1143000"/>
          </a:xfrm>
          <a:prstGeom prst="rect">
            <a:avLst/>
          </a:prstGeom>
          <a:noFill/>
        </p:spPr>
        <p:txBody>
          <a:bodyPr wrap="square" lIns="182880" rIns="182880" tIns="137160">
            <a:spAutoFit/>
          </a:bodyPr>
          <a:lstStyle/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Fork repo on GitHub and clone locally.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613648" y="2286000"/>
            <a:ext cx="365760" cy="274320"/>
          </a:xfrm>
          <a:prstGeom prst="rightArrow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098280" y="1645920"/>
            <a:ext cx="219456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098280" y="1645920"/>
            <a:ext cx="2194560" cy="50292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Step 4: Branch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148840"/>
            <a:ext cx="2194560" cy="1143000"/>
          </a:xfrm>
          <a:prstGeom prst="rect">
            <a:avLst/>
          </a:prstGeom>
          <a:noFill/>
        </p:spPr>
        <p:txBody>
          <a:bodyPr wrap="square" lIns="182880" rIns="182880" tIns="137160">
            <a:spAutoFit/>
          </a:bodyPr>
          <a:lstStyle/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Create feature branch: `git checkout -b fix-123`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9784080" y="3383280"/>
            <a:ext cx="320040" cy="320040"/>
          </a:xfrm>
          <a:prstGeom prst="downArrow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1520" y="3794760"/>
            <a:ext cx="219456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1520" y="3794760"/>
            <a:ext cx="2194560" cy="50292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Step 5: Code Changes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297680"/>
            <a:ext cx="2194560" cy="1143000"/>
          </a:xfrm>
          <a:prstGeom prst="rect">
            <a:avLst/>
          </a:prstGeom>
          <a:noFill/>
        </p:spPr>
        <p:txBody>
          <a:bodyPr wrap="square" lIns="182880" rIns="182880" tIns="137160">
            <a:spAutoFit/>
          </a:bodyPr>
          <a:lstStyle/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Follow Copilot's targeted file pointers &amp; roadmap.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035808" y="4434840"/>
            <a:ext cx="365760" cy="274320"/>
          </a:xfrm>
          <a:prstGeom prst="rightArrow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520440" y="3794760"/>
            <a:ext cx="219456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520440" y="3794760"/>
            <a:ext cx="2194560" cy="50292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Step 6: Test &amp; Verify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297680"/>
            <a:ext cx="2194560" cy="1143000"/>
          </a:xfrm>
          <a:prstGeom prst="rect">
            <a:avLst/>
          </a:prstGeom>
          <a:noFill/>
        </p:spPr>
        <p:txBody>
          <a:bodyPr wrap="square" lIns="182880" rIns="182880" tIns="137160">
            <a:spAutoFit/>
          </a:bodyPr>
          <a:lstStyle/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Run auto-scaffolded tests with project runner.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824728" y="4434840"/>
            <a:ext cx="365760" cy="274320"/>
          </a:xfrm>
          <a:prstGeom prst="rightArrow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309360" y="3794760"/>
            <a:ext cx="219456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309360" y="3794760"/>
            <a:ext cx="2194560" cy="502920"/>
          </a:xfrm>
          <a:prstGeom prst="round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Step 7: Pre-Flight Check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4297680"/>
            <a:ext cx="2194560" cy="1143000"/>
          </a:xfrm>
          <a:prstGeom prst="rect">
            <a:avLst/>
          </a:prstGeom>
          <a:noFill/>
        </p:spPr>
        <p:txBody>
          <a:bodyPr wrap="square" lIns="182880" rIns="182880" tIns="137160">
            <a:spAutoFit/>
          </a:bodyPr>
          <a:lstStyle/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Complete PR checklist: live readiness hits 100%.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8613648" y="4434840"/>
            <a:ext cx="365760" cy="274320"/>
          </a:xfrm>
          <a:prstGeom prst="rightArrow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098280" y="3794760"/>
            <a:ext cx="219456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098280" y="3794760"/>
            <a:ext cx="2194560" cy="50292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Step 8: Open PR &amp; Merge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4297680"/>
            <a:ext cx="2194560" cy="1143000"/>
          </a:xfrm>
          <a:prstGeom prst="rect">
            <a:avLst/>
          </a:prstGeom>
          <a:noFill/>
        </p:spPr>
        <p:txBody>
          <a:bodyPr wrap="square" lIns="182880" rIns="182880" tIns="137160">
            <a:spAutoFit/>
          </a:bodyPr>
          <a:lstStyle/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1-click copy PR description and submit PR! 🎃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520" y="5715000"/>
            <a:ext cx="10698480" cy="68580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47857"/>
                </a:solidFill>
                <a:latin typeface="Arial"/>
              </a:defRPr>
            </a:pPr>
            <a:r>
              <a:t>🤝 Hacktoberfest Quality Standards: Zero Spam • Automated Tests Passing • Descriptive PR Documentation • Maintainer-Approved Code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389120" cy="32004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★ IMPACT &amp; 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Demonstrated Impact, Challenges &amp; Future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52120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12080" cy="50292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IMPACT &amp; CHALLENGES OVERCOME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5212080" cy="4160520"/>
          </a:xfrm>
          <a:prstGeom prst="rect">
            <a:avLst/>
          </a:prstGeom>
          <a:noFill/>
        </p:spPr>
        <p:txBody>
          <a:bodyPr wrap="square" lIns="182880" rIns="182880" tIns="13716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Community Impact:</a:t>
            </a:r>
          </a:p>
          <a:p>
            <a:pPr>
              <a:defRPr sz="1200">
                <a:solidFill>
                  <a:srgbClr val="1E293B"/>
                </a:solidFill>
                <a:latin typeface="Arial"/>
              </a:defRPr>
            </a:pPr>
            <a:r>
              <a:t>• Reduces newcomer drop-off by turning high-friction issues into structured, accessible learning paths.</a:t>
            </a:r>
            <a:br/>
            <a:r>
              <a:t>• Saves maintainers hundreds of hours answering repetitive beginner questions.</a:t>
            </a:r>
          </a:p>
          <a:p>
            <a:br/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Engineering Challenges Overcome: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• Rate Limits (60 req/hr): Solved by 2-tier TTL caching (1-hour window) and token injection (5,000 req/hr).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• LLM Hallucinations: Constrained Gemma 4 system prompt strictly to verified GitHub repository tree files.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• Upstream Latency: Parallelized via asyncio.gather and non-blocking worker threadpool execution.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00200"/>
            <a:ext cx="52120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600200"/>
            <a:ext cx="5212080" cy="50292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ROADMAP: SHIPPED VS PLANNED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103120"/>
            <a:ext cx="5212080" cy="4160520"/>
          </a:xfrm>
          <a:prstGeom prst="rect">
            <a:avLst/>
          </a:prstGeom>
          <a:noFill/>
        </p:spPr>
        <p:txBody>
          <a:bodyPr wrap="square" lIns="182880" rIns="182880" tIns="137160">
            <a:spAutoFit/>
          </a:bodyPr>
          <a:lstStyle/>
          <a:p>
            <a:pPr>
              <a:defRPr sz="1400" b="1">
                <a:solidFill>
                  <a:srgbClr val="047857"/>
                </a:solidFill>
                <a:latin typeface="Arial"/>
              </a:defRPr>
            </a:pPr>
            <a:r>
              <a:t>✅ Completed in Round 2 (Shipped &amp; Active):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  ✓ Live Production Cloud Deployment (Railway + Vercel)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  ✓ Dynamic Model Discovery &amp; Threadpool Concurrency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  ✓ Interactive PR Checklist Modal with Live Readiness Score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  ✓ Roadmap Export (.md &amp; printable PDF)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  ✓ Automated CI/CD Pipeline (Flake8, Pytest, Next.js Build)</a:t>
            </a:r>
          </a:p>
          <a:p>
            <a:br/>
            <a:pPr>
              <a:defRPr sz="1400" b="1">
                <a:solidFill>
                  <a:srgbClr val="C2410C"/>
                </a:solidFill>
                <a:latin typeface="Arial"/>
              </a:defRPr>
            </a:pPr>
            <a:r>
              <a:t>🔮 Planned Future Scope (Post-Hackathon):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  • GitHub App / Bot: Auto-mentors contributors directly in issue comments.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  • VS Code &amp; Cursor Extension: Brings file tree guidance into developer IDEs.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  • Maintainer Dashboards: Analytics on beginner issue resolution rates.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389120" cy="32004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★ CONCLUSION &amp; CALL TO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Conclusion: Empowering the Next Generation of Builders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338328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700" b="1">
                <a:solidFill>
                  <a:srgbClr val="0F172A"/>
                </a:solidFill>
                <a:latin typeface="Arial"/>
              </a:defRPr>
            </a:pPr>
            <a:r>
              <a:t>Asmit Anand</a:t>
            </a:r>
          </a:p>
          <a:p>
            <a:pPr>
              <a:defRPr sz="1300" b="1">
                <a:solidFill>
                  <a:srgbClr val="C2410C"/>
                </a:solidFill>
                <a:latin typeface="Arial"/>
              </a:defRPr>
            </a:pPr>
            <a:r>
              <a:t>Team Lead &amp; Backend Architecture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Team GrandCoders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00200"/>
            <a:ext cx="338328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700" b="1">
                <a:solidFill>
                  <a:srgbClr val="0F172A"/>
                </a:solidFill>
                <a:latin typeface="Arial"/>
              </a:defRPr>
            </a:pPr>
            <a:r>
              <a:t>Kartikeya Sorout</a:t>
            </a:r>
          </a:p>
          <a:p>
            <a:pPr>
              <a:defRPr sz="1300" b="1">
                <a:solidFill>
                  <a:srgbClr val="1D4ED8"/>
                </a:solidFill>
                <a:latin typeface="Arial"/>
              </a:defRPr>
            </a:pPr>
            <a:r>
              <a:t>Frontend Lead &amp; AI Integration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Team GrandCoders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00200"/>
            <a:ext cx="338328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700" b="1">
                <a:solidFill>
                  <a:srgbClr val="0F172A"/>
                </a:solidFill>
                <a:latin typeface="Arial"/>
              </a:defRPr>
            </a:pPr>
            <a:r>
              <a:t>Khushhal Kumar Bansal</a:t>
            </a:r>
          </a:p>
          <a:p>
            <a:pPr>
              <a:defRPr sz="1300" b="1">
                <a:solidFill>
                  <a:srgbClr val="6D28D9"/>
                </a:solidFill>
                <a:latin typeface="Arial"/>
              </a:defRPr>
            </a:pPr>
            <a:r>
              <a:t>Full-Stack &amp; DevOps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Team GrandCoders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154680"/>
            <a:ext cx="1069848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182880"/>
          <a:lstStyle/>
          <a:p>
            <a:pPr algn="ctr">
              <a:defRPr sz="1600" b="1">
                <a:solidFill>
                  <a:srgbClr val="1D4ED8"/>
                </a:solidFill>
                <a:latin typeface="Arial"/>
              </a:defRPr>
            </a:pPr>
            <a:r>
              <a:t>Key Project Takeaways:</a:t>
            </a:r>
          </a:p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1. Solves the Pre-Coding Barrier: Guides contributors from issue discovery to maintainer-ready PR.</a:t>
            </a:r>
          </a:p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2. Grounded AI Reasoning: Constrains Gemma 4 to verified repository file trees, eliminating hallucinations.</a:t>
            </a:r>
          </a:p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3. Production-Ready &amp; Deployed: High-performance caching, resilient fallbacks, and active CI/CD.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983480"/>
            <a:ext cx="10698480" cy="137160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0"/>
          <a:lstStyle/>
          <a:p>
            <a:pPr algn="ctr">
              <a:defRPr sz="2100" b="1">
                <a:solidFill>
                  <a:srgbClr val="FFFFFF"/>
                </a:solidFill>
                <a:latin typeface="Arial"/>
              </a:defRPr>
            </a:pPr>
            <a:r>
              <a:t>“Build Together. Innovate Together. Open Source Forever.”</a:t>
            </a:r>
          </a:p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Explore &amp; Star: github.com/AsmitAnand/HacktoberFest-Team-GrandCoders  |  FastAPI Live on Railway</a:t>
            </a:r>
          </a:p>
          <a:p>
            <a:pPr algn="ctr">
              <a:defRPr sz="1400" b="1">
                <a:solidFill>
                  <a:srgbClr val="FEF08A"/>
                </a:solidFill>
                <a:latin typeface="Arial"/>
              </a:defRPr>
            </a:pPr>
            <a:r>
              <a:t>🎬 Let's see Hacktoberfest Copilot in action — Over to the live demonstration!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