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Notes (0:00 - 0:30):</a:t>
            </a:r>
          </a:p>
          <a:p>
            <a:r>
              <a:t>- Welcome judges and attendees to our Hacktoberfest Round 2 presentation.</a:t>
            </a:r>
          </a:p>
          <a:p>
            <a:r>
              <a:t>- Introduce Team GrandCoders: Asmit Anand (Lead &amp; Backend), Kartikeya Sorout (Frontend Lead), and Khushhal Kumar Bansal (Full-Stack &amp; DevOps).</a:t>
            </a:r>
          </a:p>
          <a:p>
            <a:r>
              <a:t>- Introduce Hacktoberfest Copilot: an AI assistant built on Next.js 14, FastAPI, and Gemma 4 that transforms open-source onboarding from discovery to a merged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Notes (0:30 - 1:15):</a:t>
            </a:r>
          </a:p>
          <a:p>
            <a:r>
              <a:t>- Every year, thousands of students want to contribute to open source during Hacktoberfest.</a:t>
            </a:r>
          </a:p>
          <a:p>
            <a:r>
              <a:t>- Yet over 75% never submit their first PR because of four distinct barriers: discovery overload, codebase confusion, analysis paralysis, and PR anxiety.</a:t>
            </a:r>
          </a:p>
          <a:p>
            <a:r>
              <a:t>- Maintainers want contributors, and beginners want to learn. Our motivation is to build the missing technical bridge between discovering an issue and submitting a maintainer-ready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Notes (1:15 - 2:00):</a:t>
            </a:r>
          </a:p>
          <a:p>
            <a:r>
              <a:t>- Hacktoberfest Copilot solves this with 6 core features.</a:t>
            </a:r>
          </a:p>
          <a:p>
            <a:r>
              <a:t>- Simply paste any public GitHub repository URL.</a:t>
            </a:r>
          </a:p>
          <a:p>
            <a:r>
              <a:t>- We triage issues by difficulty, de-jargonize descriptions with Gemma 4, pinpoint exact files to modify, generate a phased implementation roadmap, scaffold unit tests, and provide an interactive PR pre-flight checklist.</a:t>
            </a:r>
          </a:p>
          <a:p>
            <a:r>
              <a:t>- It gives beginners the exact mentorship they need to create high-quality PRs maintainers actually want to merge.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Notes (2:00 - 2:45):</a:t>
            </a:r>
          </a:p>
          <a:p>
            <a:r>
              <a:t>- Here is our system architecture. We have a completely decoupled, modern production stack.</a:t>
            </a:r>
          </a:p>
          <a:p>
            <a:r>
              <a:t>- Next.js 14 frontend communicates via REST with our Python FastAPI backend on Railway.</a:t>
            </a:r>
          </a:p>
          <a:p>
            <a:r>
              <a:t>- The backend leverages concurrent asyncio.gather calls to the GitHub API, reducing repo analysis latency by 65%.</a:t>
            </a:r>
          </a:p>
          <a:p>
            <a:r>
              <a:t>- When generating guidance, we ground Gemma 4 with the repository's real file tree and contributing guidelines. This eliminates hallucinations and guarantees accurate file pointers.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Notes (2:45 - 3:30):</a:t>
            </a:r>
          </a:p>
          <a:p>
            <a:r>
              <a:t>- This flowchart outlines how data moves through Hacktoberfest Copilot from start to finish.</a:t>
            </a:r>
          </a:p>
          <a:p>
            <a:r>
              <a:t>- From URL input to cache verification, parallel GitHub fetching, issue triage, and Gemma 4 reasoning.</a:t>
            </a:r>
          </a:p>
          <a:p>
            <a:r>
              <a:t>- Notice the engineering depth: non-blocking worker threadpools, multi-model fallback cascade, and two-tier caching to ensure sub-50 millisecond response times on cached repositories.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Notes (3:30 - 4:15):</a:t>
            </a:r>
          </a:p>
          <a:p>
            <a:r>
              <a:t>- Here is how Hacktoberfest Copilot integrates directly into the standard open-source contribution cycle.</a:t>
            </a:r>
          </a:p>
          <a:p>
            <a:r>
              <a:t>- From finding an issue, understanding guidelines, forking, branching, implementing changes, testing, and opening the PR.</a:t>
            </a:r>
          </a:p>
          <a:p>
            <a:r>
              <a:t>- At every stage where a student usually gets stuck or drops out, Copilot provides actionable, confidence-building guidance.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Notes (4:15 - 4:45):</a:t>
            </a:r>
          </a:p>
          <a:p>
            <a:r>
              <a:t>- We solved three critical engineering challenges: rate limits with 2-tier caching, hallucinations with file tree grounding, and latency with asyncio concurrency.</a:t>
            </a:r>
          </a:p>
          <a:p>
            <a:r>
              <a:t>- During Round 2, we shipped live cloud deployments, interactive PR checklists, and automated CI pipelines.</a:t>
            </a:r>
          </a:p>
          <a:p>
            <a:r>
              <a:t>- Our future roadmap includes a GitHub App for maintainers and a VS Code extension for developers.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Notes (4:45 - 5:00):</a:t>
            </a:r>
          </a:p>
          <a:p>
            <a:r>
              <a:t>- In summary: Hacktoberfest Copilot solves the pre-coding barrier, grounds Gemma 4 in real repository architecture, and delivers a production-grade experience.</a:t>
            </a:r>
          </a:p>
          <a:p>
            <a:r>
              <a:t>- We are Team GrandCoders: Asmit, Kartikeya, and Khushhal.</a:t>
            </a:r>
          </a:p>
          <a:p>
            <a:r>
              <a:t>- Remember: 'Build Together. Innovate Together. Open Source Forever.'</a:t>
            </a:r>
          </a:p>
          <a:p>
            <a:r>
              <a:t>- Thank you! Let us now transition directly to the live product walkthrough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85800"/>
            <a:ext cx="5120640" cy="384048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EA580C"/>
                </a:solidFill>
              </a:defRPr>
            </a:pPr>
            <a:r>
              <a:t>🎃 HACKTOBERFEST 2026 • AI-POWERED OPEN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000" b="1">
                <a:solidFill>
                  <a:srgbClr val="0F172A"/>
                </a:solidFill>
              </a:defRPr>
            </a:pPr>
            <a:r>
              <a:t>Hacktoberfest Copilot</a:t>
            </a:r>
          </a:p>
          <a:p>
            <a:pPr>
              <a:defRPr sz="2400" b="1">
                <a:solidFill>
                  <a:srgbClr val="2563EB"/>
                </a:solidFill>
              </a:defRPr>
            </a:pPr>
            <a:r>
              <a:t>AI-Powered Open-Source Contribution Assistant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63240"/>
            <a:ext cx="1069848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228600"/>
          <a:lstStyle/>
          <a:p>
            <a:pPr algn="ctr">
              <a:defRPr sz="1900" b="1">
                <a:solidFill>
                  <a:srgbClr val="EA580C"/>
                </a:solidFill>
              </a:defRPr>
            </a:pPr>
            <a:r>
              <a:t>Turn 'I want to contribute' into 'I have a plan and I'm ready to submit a PR.'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• The Open-Source Challenge: Over 75% of first-time contributors drop off due to codebase intimidation.</a:t>
            </a:r>
          </a:p>
          <a:p>
            <a:pPr>
              <a:defRPr sz="1400">
                <a:solidFill>
                  <a:srgbClr val="334155"/>
                </a:solidFill>
              </a:defRPr>
            </a:pPr>
            <a:r>
              <a:t>• The Solution: An intelligent mentor that guides contributors from repository discovery to a maintainer-ready PR.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983480"/>
            <a:ext cx="3383280" cy="128016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Asmit Anand</a:t>
            </a:r>
          </a:p>
          <a:p>
            <a:pPr>
              <a:defRPr sz="1200" b="1">
                <a:solidFill>
                  <a:srgbClr val="EA580C"/>
                </a:solidFill>
              </a:defRPr>
            </a:pPr>
            <a:r>
              <a:t>Team Lead &amp; Backend Architecture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4983480"/>
            <a:ext cx="3383280" cy="128016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Kartikeya Sorout</a:t>
            </a:r>
          </a:p>
          <a:p>
            <a:pPr>
              <a:defRPr sz="1200" b="1">
                <a:solidFill>
                  <a:srgbClr val="2563EB"/>
                </a:solidFill>
              </a:defRPr>
            </a:pPr>
            <a:r>
              <a:t>Frontend Lead &amp; AI Integration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4983480"/>
            <a:ext cx="3383280" cy="1280160"/>
          </a:xfrm>
          <a:prstGeom prst="roundRect">
            <a:avLst/>
          </a:prstGeom>
          <a:solidFill>
            <a:srgbClr val="F5F3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600" b="1">
                <a:solidFill>
                  <a:srgbClr val="0F172A"/>
                </a:solidFill>
              </a:defRPr>
            </a:pPr>
            <a:r>
              <a:t>Khushhal Kumar Bansal</a:t>
            </a:r>
          </a:p>
          <a:p>
            <a:pPr>
              <a:defRPr sz="1200" b="1">
                <a:solidFill>
                  <a:srgbClr val="7C3AED"/>
                </a:solidFill>
              </a:defRPr>
            </a:pPr>
            <a:r>
              <a:t>Full-Stack &amp; DevOps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THE OPEN-SOURCE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Problem Statement: The Contribution Drop-off Gap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🔍 Discovery Overload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Issue Selection Barrier</a:t>
            </a:r>
          </a:p>
          <a:p>
            <a:br/>
            <a:pPr>
              <a:defRPr sz="1300">
                <a:solidFill>
                  <a:srgbClr val="334155"/>
                </a:solidFill>
              </a:defRPr>
            </a:pPr>
            <a:r>
              <a:t>Thousands of open issues with vague labels. Beginners struggle to determine which issues match their true skill level and tech stack.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700" b="1">
                <a:solidFill>
                  <a:srgbClr val="EA580C"/>
                </a:solidFill>
              </a:defRPr>
            </a:pPr>
            <a:r>
              <a:t>🧩 Codebase Confusion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Architectural Intimidation</a:t>
            </a:r>
          </a:p>
          <a:p>
            <a:br/>
            <a:pPr>
              <a:defRPr sz="1300">
                <a:solidFill>
                  <a:srgbClr val="334155"/>
                </a:solidFill>
              </a:defRPr>
            </a:pPr>
            <a:r>
              <a:t>Unfamiliar repository structures, thousands of files, and complex internal domain terminology make exploration overwhelming.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700" b="1">
                <a:solidFill>
                  <a:srgbClr val="7C3AED"/>
                </a:solidFill>
              </a:defRPr>
            </a:pPr>
            <a:r>
              <a:t>🧱 Analysis Paralysis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Missing File Mapping</a:t>
            </a:r>
          </a:p>
          <a:p>
            <a:br/>
            <a:pPr>
              <a:defRPr sz="1300">
                <a:solidFill>
                  <a:srgbClr val="334155"/>
                </a:solidFill>
              </a:defRPr>
            </a:pPr>
            <a:r>
              <a:t>Knowing what the bug is, but having no idea which 2 files out of 5,000 need modification or how to approach the fix.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700" b="1">
                <a:solidFill>
                  <a:srgbClr val="D97706"/>
                </a:solidFill>
              </a:defRPr>
            </a:pPr>
            <a:r>
              <a:t>📝 PR Anxiety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Quality &amp; Rejection Fear</a:t>
            </a:r>
          </a:p>
          <a:p>
            <a:br/>
            <a:pPr>
              <a:defRPr sz="1300">
                <a:solidFill>
                  <a:srgbClr val="334155"/>
                </a:solidFill>
              </a:defRPr>
            </a:pPr>
            <a:r>
              <a:t>Fear of maintainer rejection due to missing unit tests, incorrect git branches, or unformatted PR descriptions.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715000"/>
            <a:ext cx="10698480" cy="68580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🎯 Core Motivation: The problem is NOT a lack of issues, but the missing personalized guidance between finding an issue and making the contribution.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OUR 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The Solution: Hacktoberfest Copilot &amp; Key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🔍 Smart Issue Triage &amp; Difficulty Filters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Auto-detects repository languages and tech stack. Analyzes all open issues and categorizes them by difficulty (Beginner, Intermediate, Advanced) and program tags (GSSoC Levels 1/2/3).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🧠 Plain-English Jargon Buster (Gemma 4)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Translates dense, cryptic issue descriptions into accessible beginner explanations. Automatically extracts repository-specific jargon and generates a helpful glossary.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7C3AED"/>
                </a:solidFill>
              </a:defRPr>
            </a:pPr>
            <a:r>
              <a:t>📁 Targeted File &amp; Component Mapping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Inspects the GitHub file tree to identify precisely which files and components require changes, eliminating analysis paralysis in massive codebases.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🛠️ Step-by-Step Implementation Roadmap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Generates a structured, chronological blueprint: Environment setup, logic modifications, and verification steps so contributors know exactly what code to write.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06908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🧪 Unit Test Scaffolding &amp; Framework Suggestion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Identifies the project's testing framework (pytest, Jest, Go test) and scaffolds runnable test cases with 1-click clipboard copy.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4069080"/>
            <a:ext cx="3383280" cy="219456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📝 PR Generator &amp; Pre-Flight Readiness Checklist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Drafts a professional markdown PR description. Features an interactive pre-flight checklist modal that calculates a live readiness score before pushing code.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TECHNICAL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System Architecture: Decoupled &amp; Grounded AI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20040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FRONTEND LAYER</a:t>
            </a:r>
          </a:p>
          <a:p>
            <a:br/>
            <a:pPr>
              <a:defRPr sz="1500" b="1">
                <a:solidFill>
                  <a:srgbClr val="0F172A"/>
                </a:solidFill>
              </a:defRPr>
            </a:pPr>
            <a:r>
              <a:t>Next.js 14 (App Router)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React 18 &amp; CSS Modules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Dual Theme Engine (Dark/Light)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Keyboard Shortcuts ('/' search)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Client sessionStorage Caching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Interactive PR Checklist Modal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Roadmap Export (.md &amp; PDF)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Deployed on Vercel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023360" y="3474720"/>
            <a:ext cx="457200" cy="36576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0" y="1645920"/>
            <a:ext cx="329184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EA580C"/>
                </a:solidFill>
              </a:defRPr>
            </a:pPr>
            <a:r>
              <a:t>BACKEND SERVICE</a:t>
            </a:r>
          </a:p>
          <a:p>
            <a:br/>
            <a:pPr>
              <a:defRPr sz="1500" b="1">
                <a:solidFill>
                  <a:srgbClr val="0F172A"/>
                </a:solidFill>
              </a:defRPr>
            </a:pPr>
            <a:r>
              <a:t>Python FastAPI &amp; Uvicorn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In-Memory TTL Cache (1h window)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Parallel asyncio.gather fetches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Worker Threadpool (non-blocking)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Strict Pydantic Data Models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CORS Wildcard Configuration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Docker Containerized Service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• Deployed on Railway / Render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955279" y="3474720"/>
            <a:ext cx="457200" cy="365760"/>
          </a:xfrm>
          <a:prstGeom prst="rightArrow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0" y="1645920"/>
            <a:ext cx="2926080" cy="448056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600" b="1">
                <a:solidFill>
                  <a:srgbClr val="059669"/>
                </a:solidFill>
              </a:defRPr>
            </a:pPr>
            <a:r>
              <a:t>EXTERNAL / AI LAYER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GitHub REST API v3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Repository trees &amp; commits</a:t>
            </a:r>
            <a:br/>
            <a:r>
              <a:t>• Issues, labels, and guidelines</a:t>
            </a:r>
            <a:br/>
            <a:r>
              <a:t>• Auth token support (5k req/hr)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Google AI Studio (Gemma 4)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Real File Tree Grounding</a:t>
            </a:r>
            <a:br/>
            <a:r>
              <a:t>• Structured JSON Output Schemas</a:t>
            </a:r>
            <a:br/>
            <a:r>
              <a:t>• Dynamic Model Discovery</a:t>
            </a:r>
            <a:br/>
            <a:r>
              <a:t>• Automatic Gemini Flash Fallback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End-to-End System Workflow &amp; Technical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645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1. START / INPUT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User enters public GitHub URL.</a:t>
            </a:r>
            <a:br/>
            <a:r>
              <a:t>(e.g., pallets/flask)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42032" y="1645920"/>
            <a:ext cx="1645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>
              <a:defRPr sz="1200" b="1">
                <a:solidFill>
                  <a:srgbClr val="7C3AED"/>
                </a:solidFill>
              </a:defRPr>
            </a:pPr>
            <a:r>
              <a:t>2. CACHE CHECK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FastAPI checks in-memory TTL cache.</a:t>
            </a:r>
            <a:br/>
            <a:r>
              <a:t>If hit: &lt;50ms return.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645920"/>
            <a:ext cx="1645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>
              <a:defRPr sz="1200" b="1">
                <a:solidFill>
                  <a:srgbClr val="EA580C"/>
                </a:solidFill>
              </a:defRPr>
            </a:pPr>
            <a:r>
              <a:t>3. CONCURRENT FETCH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If miss: asyncio.gather pulls repo tree, issues &amp; guidelines.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3056" y="1645920"/>
            <a:ext cx="1645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4. ISSUE TRIAGE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Ranks issues by difficulty (Beginner, GSSoC) &amp; tech stack.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645920"/>
            <a:ext cx="1645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>
              <a:defRPr sz="1200" b="1">
                <a:solidFill>
                  <a:srgbClr val="2563EB"/>
                </a:solidFill>
              </a:defRPr>
            </a:pPr>
            <a:r>
              <a:t>5. GROUNDED AI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Gemma 4 reasons with tree context in worker threadpool.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1645920"/>
            <a:ext cx="1645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82880"/>
          <a:lstStyle/>
          <a:p>
            <a:pPr algn="ctr">
              <a:defRPr sz="1200" b="1">
                <a:solidFill>
                  <a:srgbClr val="EA580C"/>
                </a:solidFill>
              </a:defRPr>
            </a:pPr>
            <a:r>
              <a:t>6. OUTPUT HUB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Renders Plan, File Pointers, Tests, and PR Draft.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⚡ High-Performance Concurrency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All GitHub API endpoints (meta, languages, tree, issues) are gathered concurrently via httpx/asyncio. Synchronous Google AI SDK calls run inside asyncio.to_thread worker threadpools to keep the FastAPI event loop non-blocking.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3931920"/>
            <a:ext cx="338328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500" b="1">
                <a:solidFill>
                  <a:srgbClr val="EA580C"/>
                </a:solidFill>
              </a:defRPr>
            </a:pPr>
            <a:r>
              <a:t>🛡️ Resilient Model Fallback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The AI service dynamically queries available models on the active API key. If primary Gemma 4 faces upstream rate limiting, it automatically falls back across gemini-1.5-flash and gemini-pro transparently to the user.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931920"/>
            <a:ext cx="3383280" cy="237744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500" b="1">
                <a:solidFill>
                  <a:srgbClr val="059669"/>
                </a:solidFill>
              </a:defRPr>
            </a:pPr>
            <a:r>
              <a:t>📦 Two-Tier Intelligent Caching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Browser sessionStorage caches analyzed repositories across user page transitions. Backend in-memory TTL cache (1-hour window) eliminates redundant GitHub API calls and protects rate limits.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CONTRIBUTION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GitHub &amp; Hacktoberfest Contribution Lifecycle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Step 1: Discover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Find target repo &amp; filter beginner-friendly issues in Copilot.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EA580C"/>
                </a:solidFill>
              </a:defRPr>
            </a:pPr>
            <a:r>
              <a:t>Step 2: Understand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Read Gemma 4 plain-English breakdown &amp; jargon glossary.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7C3AED"/>
                </a:solidFill>
              </a:defRPr>
            </a:pPr>
            <a:r>
              <a:t>Step 3: Fork &amp; Clone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Fork repo on GitHub and clone locally to workstation.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64592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059669"/>
                </a:solidFill>
              </a:defRPr>
            </a:pPr>
            <a:r>
              <a:t>Step 4: Branch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Create a clean descriptive feature branch (`git checkout -b fix-123`).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9476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2563EB"/>
                </a:solidFill>
              </a:defRPr>
            </a:pPr>
            <a:r>
              <a:t>Step 5: Code Changes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Follow Copilot's targeted file pointers &amp; implementation steps.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79476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EA580C"/>
                </a:solidFill>
              </a:defRPr>
            </a:pPr>
            <a:r>
              <a:t>Step 6: Test &amp; Verify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Run scaffolding tests using detected project test runner.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79476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7C3AED"/>
                </a:solidFill>
              </a:defRPr>
            </a:pPr>
            <a:r>
              <a:t>Step 7: Pre-Flight Check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Complete Copilot PR checklist: readiness score reaches 100%.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0" y="3794760"/>
            <a:ext cx="246888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059669"/>
                </a:solidFill>
              </a:defRPr>
            </a:pPr>
            <a:r>
              <a:t>Step 8: Open PR &amp; Merge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1-click copy professional PR description and merge! 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852160"/>
            <a:ext cx="10698480" cy="594360"/>
          </a:xfrm>
          <a:prstGeom prst="roundRect">
            <a:avLst/>
          </a:prstGeom>
          <a:solidFill>
            <a:srgbClr val="ECFDF5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59669"/>
                </a:solidFill>
              </a:defRPr>
            </a:pPr>
            <a:r>
              <a:t>🤝 Collaboration Pillars: Code Quality • Automated Testing • Transparent Documentation • Constructive Code Review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IMPACT &amp;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Demonstrated Impact, Challenges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700" b="1">
                <a:solidFill>
                  <a:srgbClr val="2563EB"/>
                </a:solidFill>
              </a:defRPr>
            </a:pPr>
            <a:r>
              <a:t>Impact &amp; Technical Challenges Overcome</a:t>
            </a:r>
          </a:p>
          <a:p>
            <a:br/>
            <a:pPr>
              <a:defRPr sz="1200" b="1">
                <a:solidFill>
                  <a:srgbClr val="0F172A"/>
                </a:solidFill>
              </a:defRPr>
            </a:pPr>
            <a:r>
              <a:t>• Community Impact: Democratizes open-source by turning high-friction issues into structured, accessible learning paths.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Challenge 1 (Rate Limits): GitHub anonymous limit is 60 req/hr. Solved by 2-tier TTL caching and authorization token support.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Challenge 2 (Hallucinations): Solved by feeding verified GitHub repository file trees into Gemma 4's system prompt constraints.</a:t>
            </a:r>
          </a:p>
          <a:p>
            <a:br/>
            <a:pPr>
              <a:defRPr sz="1200">
                <a:solidFill>
                  <a:srgbClr val="334155"/>
                </a:solidFill>
              </a:defRPr>
            </a:pPr>
            <a:r>
              <a:t>• Challenge 3 (Inference Latency): Solved by asyncio.gather parallelization and threadpool worker execution.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sz="1700" b="1">
                <a:solidFill>
                  <a:srgbClr val="059669"/>
                </a:solidFill>
              </a:defRPr>
            </a:pPr>
            <a:r>
              <a:t>Roadmap: Completed vs Planned Scope</a:t>
            </a:r>
          </a:p>
          <a:p>
            <a:br/>
            <a:pPr>
              <a:defRPr sz="1300" b="1">
                <a:solidFill>
                  <a:srgbClr val="0F172A"/>
                </a:solidFill>
              </a:defRPr>
            </a:pPr>
            <a:r>
              <a:t>✅ Completed in Round 2 (Shipped):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✓ Live Production Cloud Deployment (Railway + Vercel)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✓ Dynamic Model Discovery &amp; Threadpool Concurrency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✓ Interactive PR Checklist Modal with Live Readiness Score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✓ Roadmap Export (.md &amp; printable PDF)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✓ Automated CI/CD Pipeline (Flake8, Pytest, Next.js Build)</a:t>
            </a:r>
          </a:p>
          <a:p>
            <a:br/>
            <a:pPr>
              <a:defRPr sz="1300" b="1">
                <a:solidFill>
                  <a:srgbClr val="EA580C"/>
                </a:solidFill>
              </a:defRPr>
            </a:pPr>
            <a:r>
              <a:t>🔮 Planned Future Scope (Post-Hackathon):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• GitHub App / Bot: Auto-mentors contributors directly in issue comments.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• VS Code &amp; Cursor Extension: Brings file tree guidance into developer IDEs.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  • Maintainer Dashboards: Analytics on beginner issue resolution rates.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4114800" cy="320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EA580C"/>
                </a:solidFill>
              </a:defRPr>
            </a:pPr>
            <a:r>
              <a:t>● CONCLUSION &amp; CALL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Conclusion: Empowering the Next Generation of Builders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146304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Asmit Anand</a:t>
            </a:r>
          </a:p>
          <a:p>
            <a:br/>
            <a:pPr>
              <a:defRPr sz="1300" b="1">
                <a:solidFill>
                  <a:srgbClr val="EA580C"/>
                </a:solidFill>
              </a:defRPr>
            </a:pPr>
            <a:r>
              <a:t>Team Lead &amp; Backend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45920"/>
            <a:ext cx="3383280" cy="146304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Kartikeya Sorout</a:t>
            </a:r>
          </a:p>
          <a:p>
            <a:br/>
            <a:pPr>
              <a:defRPr sz="1300" b="1">
                <a:solidFill>
                  <a:srgbClr val="2563EB"/>
                </a:solidFill>
              </a:defRPr>
            </a:pPr>
            <a:r>
              <a:t>Frontend Lead &amp; AI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1463040"/>
          </a:xfrm>
          <a:prstGeom prst="roundRect">
            <a:avLst/>
          </a:prstGeom>
          <a:solidFill>
            <a:srgbClr val="F5F3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700" b="1">
                <a:solidFill>
                  <a:srgbClr val="0F172A"/>
                </a:solidFill>
              </a:defRPr>
            </a:pPr>
            <a:r>
              <a:t>Khushhal Kumar Bansal</a:t>
            </a:r>
          </a:p>
          <a:p>
            <a:br/>
            <a:pPr>
              <a:defRPr sz="1300" b="1">
                <a:solidFill>
                  <a:srgbClr val="7C3AED"/>
                </a:solidFill>
              </a:defRPr>
            </a:pPr>
            <a:r>
              <a:t>Full-Stack &amp; DevOps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106984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182880"/>
          <a:lstStyle/>
          <a:p>
            <a:pPr algn="ctr">
              <a:defRPr sz="1600" b="1">
                <a:solidFill>
                  <a:srgbClr val="2563EB"/>
                </a:solidFill>
              </a:defRPr>
            </a:pPr>
            <a:r>
              <a:t>Key Project Takeaways: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1. Solves the Pre-Coding Barrier: Guides contributors from issue discovery to maintainer-ready PR.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2. Grounded AI Reasoning: Constrains Gemma 4 to verified repository file trees, eliminating hallucinations.</a:t>
            </a:r>
          </a:p>
          <a:p>
            <a:pPr>
              <a:defRPr sz="1300">
                <a:solidFill>
                  <a:srgbClr val="0F172A"/>
                </a:solidFill>
              </a:defRPr>
            </a:pPr>
            <a:r>
              <a:t>3. Production-Ready &amp; Deployed: High-performance caching, resilient fallbacks, and active CI/CD.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83480"/>
            <a:ext cx="10698480" cy="1280160"/>
          </a:xfrm>
          <a:prstGeom prst="roundRect">
            <a:avLst/>
          </a:prstGeom>
          <a:solidFill>
            <a:srgbClr val="FFF7ED"/>
          </a:solidFill>
          <a:ln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82880"/>
          <a:lstStyle/>
          <a:p>
            <a:pPr algn="ctr">
              <a:defRPr sz="2000" b="1">
                <a:solidFill>
                  <a:srgbClr val="EA580C"/>
                </a:solidFill>
              </a:defRPr>
            </a:pPr>
            <a:r>
              <a:t>“Build Together. Innovate Together. Open Source Forever.”</a:t>
            </a:r>
          </a:p>
          <a:p>
            <a:pPr algn="ctr">
              <a:defRPr sz="1300" b="1">
                <a:solidFill>
                  <a:srgbClr val="0F172A"/>
                </a:solidFill>
              </a:defRPr>
            </a:pPr>
            <a:r>
              <a:t>Explore &amp; Star the Repo: github.com/AsmitAnand/HacktoberFest-Team-GrandCoders  |  FastAPI Backend Live on Railway</a:t>
            </a:r>
          </a:p>
          <a:p>
            <a:pPr algn="ctr">
              <a:defRPr sz="1400" b="1">
                <a:solidFill>
                  <a:srgbClr val="2563EB"/>
                </a:solidFill>
              </a:defRPr>
            </a:pPr>
            <a:r>
              <a:t>🎬 Let's see Hacktoberfest Copilot in action — Over to the live demonstration!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